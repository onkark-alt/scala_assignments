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8229600" cx="14630400"/>
  <p:notesSz cx="8229600" cy="14630400"/>
  <p:embeddedFontLst>
    <p:embeddedFont>
      <p:font typeface="Alice"/>
      <p:regular r:id="rId32"/>
    </p:embeddedFont>
    <p:embeddedFont>
      <p:font typeface="Lora"/>
      <p:regular r:id="rId33"/>
      <p:bold r:id="rId34"/>
      <p:italic r:id="rId35"/>
      <p:boldItalic r:id="rId36"/>
    </p:embeddedFont>
    <p:embeddedFont>
      <p:font typeface="Roboto Mon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Lora-regular.fntdata"/><Relationship Id="rId10" Type="http://schemas.openxmlformats.org/officeDocument/2006/relationships/slide" Target="slides/slide6.xml"/><Relationship Id="rId32" Type="http://schemas.openxmlformats.org/officeDocument/2006/relationships/font" Target="fonts/Alice-regular.fntdata"/><Relationship Id="rId13" Type="http://schemas.openxmlformats.org/officeDocument/2006/relationships/slide" Target="slides/slide9.xml"/><Relationship Id="rId35" Type="http://schemas.openxmlformats.org/officeDocument/2006/relationships/font" Target="fonts/Lora-italic.fntdata"/><Relationship Id="rId12" Type="http://schemas.openxmlformats.org/officeDocument/2006/relationships/slide" Target="slides/slide8.xml"/><Relationship Id="rId34" Type="http://schemas.openxmlformats.org/officeDocument/2006/relationships/font" Target="fonts/Lora-bold.fntdata"/><Relationship Id="rId15" Type="http://schemas.openxmlformats.org/officeDocument/2006/relationships/slide" Target="slides/slide11.xml"/><Relationship Id="rId37" Type="http://schemas.openxmlformats.org/officeDocument/2006/relationships/font" Target="fonts/RobotoMono-regular.fntdata"/><Relationship Id="rId14" Type="http://schemas.openxmlformats.org/officeDocument/2006/relationships/slide" Target="slides/slide10.xml"/><Relationship Id="rId36" Type="http://schemas.openxmlformats.org/officeDocument/2006/relationships/font" Target="fonts/Lora-boldItalic.fntdata"/><Relationship Id="rId17" Type="http://schemas.openxmlformats.org/officeDocument/2006/relationships/slide" Target="slides/slide13.xml"/><Relationship Id="rId39" Type="http://schemas.openxmlformats.org/officeDocument/2006/relationships/font" Target="fonts/RobotoMono-italic.fntdata"/><Relationship Id="rId16" Type="http://schemas.openxmlformats.org/officeDocument/2006/relationships/slide" Target="slides/slide12.xml"/><Relationship Id="rId38" Type="http://schemas.openxmlformats.org/officeDocument/2006/relationships/font" Target="fonts/RobotoMono-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0ca0ef8f7_2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b0ca0ef8f7_2_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b0ca0ef8f7_2_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b0ca0ef8f7_2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b0ca0ef8f7_2_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3b0ca0ef8f7_2_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b0ca0ef8f7_2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b0ca0ef8f7_2_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b0ca0ef8f7_2_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0ca0ef8f7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b0ca0ef8f7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3b0ca0ef8f7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b0ca0ef8f7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b0ca0ef8f7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b0ca0ef8f7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b0ca0ef8f7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b0ca0ef8f7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g3b0ca0ef8f7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b0ca0ef8f7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b0ca0ef8f7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b0ca0ef8f7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0ca0ef8f7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b0ca0ef8f7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3b0ca0ef8f7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b0ca0ef8f7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b0ca0ef8f7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g3b0ca0ef8f7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b0ca0ef8f7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b0ca0ef8f7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b0ca0ef8f7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b0ca0ef8f7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b0ca0ef8f7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3b0ca0ef8f7_0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b0ca0ef8f7_2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3b0ca0ef8f7_2_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3b0ca0ef8f7_2_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b0ca0ef8f7_2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3b0ca0ef8f7_2_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g3b0ca0ef8f7_2_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b0ca0ef8f7_2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3b0ca0ef8f7_2_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g3b0ca0ef8f7_2_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b0ca0ef8f7_2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3b0ca0ef8f7_2_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g3b0ca0ef8f7_2_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b0ca0ef8f7_2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b0ca0ef8f7_2_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g3b0ca0ef8f7_2_1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b0ca0ef8f7_2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b0ca0ef8f7_2_1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3b0ca0ef8f7_2_1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7"/>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8"/>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0"/>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1"/>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14.png"/><Relationship Id="rId7" Type="http://schemas.openxmlformats.org/officeDocument/2006/relationships/image" Target="../media/image16.png"/><Relationship Id="rId8"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1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7" name="Google Shape;57;p13"/>
          <p:cNvSpPr/>
          <p:nvPr/>
        </p:nvSpPr>
        <p:spPr>
          <a:xfrm>
            <a:off x="793790" y="1632704"/>
            <a:ext cx="7556421" cy="2835116"/>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Smart Environmental Monitoring: Air Quality &amp; Pollution Anomaly Detection Platform</a:t>
            </a:r>
            <a:endParaRPr b="0" i="0" sz="4450" u="none" cap="none" strike="noStrike"/>
          </a:p>
        </p:txBody>
      </p:sp>
      <p:sp>
        <p:nvSpPr>
          <p:cNvPr id="58" name="Google Shape;58;p13"/>
          <p:cNvSpPr/>
          <p:nvPr/>
        </p:nvSpPr>
        <p:spPr>
          <a:xfrm>
            <a:off x="793790" y="5006946"/>
            <a:ext cx="58182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Real-Time &amp; Batch Data Engineering Platform</a:t>
            </a:r>
            <a:endParaRPr b="0" i="0" sz="2200" u="none" cap="none" strike="noStrike"/>
          </a:p>
        </p:txBody>
      </p:sp>
      <p:sp>
        <p:nvSpPr>
          <p:cNvPr id="59" name="Google Shape;59;p13"/>
          <p:cNvSpPr/>
          <p:nvPr/>
        </p:nvSpPr>
        <p:spPr>
          <a:xfrm>
            <a:off x="793790" y="6582541"/>
            <a:ext cx="75564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1" i="0" lang="en-US" sz="1750" u="none" cap="none" strike="noStrike">
                <a:solidFill>
                  <a:srgbClr val="2C2821"/>
                </a:solidFill>
                <a:latin typeface="Lora"/>
                <a:ea typeface="Lora"/>
                <a:cs typeface="Lora"/>
                <a:sym typeface="Lora"/>
              </a:rPr>
              <a:t>Technologies:</a:t>
            </a:r>
            <a:r>
              <a:rPr b="0" i="0" lang="en-US" sz="1750" u="none" cap="none" strike="noStrike">
                <a:solidFill>
                  <a:srgbClr val="2C2821"/>
                </a:solidFill>
                <a:latin typeface="Lora"/>
                <a:ea typeface="Lora"/>
                <a:cs typeface="Lora"/>
                <a:sym typeface="Lora"/>
              </a:rPr>
              <a:t> Apache Kafka, Apache Spark, Cassandra, MySQL, Protobuf, Amazon S3, Play Framework</a:t>
            </a:r>
            <a:endParaRPr b="0" i="0" sz="1750" u="none" cap="none" strike="noStrike"/>
          </a:p>
        </p:txBody>
      </p:sp>
      <p:sp>
        <p:nvSpPr>
          <p:cNvPr id="60" name="Google Shape;60;p13"/>
          <p:cNvSpPr/>
          <p:nvPr/>
        </p:nvSpPr>
        <p:spPr>
          <a:xfrm>
            <a:off x="793790" y="5790388"/>
            <a:ext cx="75564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1" lang="en-US" sz="1750">
                <a:solidFill>
                  <a:srgbClr val="2C2821"/>
                </a:solidFill>
                <a:latin typeface="Lora"/>
                <a:ea typeface="Lora"/>
                <a:cs typeface="Lora"/>
                <a:sym typeface="Lora"/>
              </a:rPr>
              <a:t>Name: </a:t>
            </a:r>
            <a:r>
              <a:rPr lang="en-US" sz="1750">
                <a:solidFill>
                  <a:srgbClr val="2C2821"/>
                </a:solidFill>
                <a:latin typeface="Lora"/>
                <a:ea typeface="Lora"/>
                <a:cs typeface="Lora"/>
                <a:sym typeface="Lora"/>
              </a:rPr>
              <a:t>Onkar Kiran Vallal</a:t>
            </a:r>
            <a:endParaRPr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descr="preencoded.png" id="66" name="Google Shape;66;p1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67" name="Google Shape;67;p14"/>
          <p:cNvSpPr/>
          <p:nvPr/>
        </p:nvSpPr>
        <p:spPr>
          <a:xfrm>
            <a:off x="718661" y="893326"/>
            <a:ext cx="5133499" cy="641747"/>
          </a:xfrm>
          <a:prstGeom prst="rect">
            <a:avLst/>
          </a:prstGeom>
          <a:noFill/>
          <a:ln>
            <a:noFill/>
          </a:ln>
        </p:spPr>
        <p:txBody>
          <a:bodyPr anchorCtr="0" anchor="t" bIns="0" lIns="0" spcFirstLastPara="1" rIns="0" wrap="square" tIns="0">
            <a:noAutofit/>
          </a:bodyPr>
          <a:lstStyle/>
          <a:p>
            <a:pPr indent="0" lvl="0" marL="0" marR="0" rtl="0" algn="l">
              <a:lnSpc>
                <a:spcPct val="126250"/>
              </a:lnSpc>
              <a:spcBef>
                <a:spcPts val="0"/>
              </a:spcBef>
              <a:spcAft>
                <a:spcPts val="0"/>
              </a:spcAft>
              <a:buClr>
                <a:srgbClr val="233E32"/>
              </a:buClr>
              <a:buSzPts val="4000"/>
              <a:buFont typeface="Alice"/>
              <a:buNone/>
            </a:pPr>
            <a:r>
              <a:rPr b="0" i="0" lang="en-US" sz="4000" u="none" cap="none" strike="noStrike">
                <a:solidFill>
                  <a:srgbClr val="233E32"/>
                </a:solidFill>
                <a:latin typeface="Alice"/>
                <a:ea typeface="Alice"/>
                <a:cs typeface="Alice"/>
                <a:sym typeface="Alice"/>
              </a:rPr>
              <a:t>Problem Statement</a:t>
            </a:r>
            <a:endParaRPr b="0" i="0" sz="4000" u="none" cap="none" strike="noStrike"/>
          </a:p>
        </p:txBody>
      </p:sp>
      <p:sp>
        <p:nvSpPr>
          <p:cNvPr id="68" name="Google Shape;68;p14"/>
          <p:cNvSpPr/>
          <p:nvPr/>
        </p:nvSpPr>
        <p:spPr>
          <a:xfrm>
            <a:off x="718661" y="2048232"/>
            <a:ext cx="3602831" cy="76985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400"/>
              <a:buFont typeface="Alice"/>
              <a:buNone/>
            </a:pPr>
            <a:r>
              <a:rPr b="0" i="0" lang="en-US" sz="2400" u="none" cap="none" strike="noStrike">
                <a:solidFill>
                  <a:srgbClr val="233E32"/>
                </a:solidFill>
                <a:latin typeface="Alice"/>
                <a:ea typeface="Alice"/>
                <a:cs typeface="Alice"/>
                <a:sym typeface="Alice"/>
              </a:rPr>
              <a:t>Urban Air Quality Challenges</a:t>
            </a:r>
            <a:endParaRPr b="0" i="0" sz="2400" u="none" cap="none" strike="noStrike"/>
          </a:p>
        </p:txBody>
      </p:sp>
      <p:sp>
        <p:nvSpPr>
          <p:cNvPr id="69" name="Google Shape;69;p14"/>
          <p:cNvSpPr/>
          <p:nvPr/>
        </p:nvSpPr>
        <p:spPr>
          <a:xfrm>
            <a:off x="718661" y="3023354"/>
            <a:ext cx="3602831" cy="230028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Cities face increasing difficulties in monitoring air quality effectively across multiple locations. Traditional systems struggle with the velocity and volume of sensor data, making it hard to identify pollution spikes in real-time.</a:t>
            </a:r>
            <a:endParaRPr b="0" i="0" sz="1600" u="none" cap="none" strike="noStrike"/>
          </a:p>
        </p:txBody>
      </p:sp>
      <p:sp>
        <p:nvSpPr>
          <p:cNvPr id="70" name="Google Shape;70;p14"/>
          <p:cNvSpPr/>
          <p:nvPr/>
        </p:nvSpPr>
        <p:spPr>
          <a:xfrm>
            <a:off x="718736" y="5728227"/>
            <a:ext cx="3602700" cy="1643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Environmental agencies need both immediate alerts for hazardous conditions and historical insights to identify long-term trends and inform policy decisions.</a:t>
            </a:r>
            <a:endParaRPr b="0" i="0" sz="1600" u="none" cap="none" strike="noStrike"/>
          </a:p>
        </p:txBody>
      </p:sp>
      <p:sp>
        <p:nvSpPr>
          <p:cNvPr id="71" name="Google Shape;71;p14"/>
          <p:cNvSpPr/>
          <p:nvPr/>
        </p:nvSpPr>
        <p:spPr>
          <a:xfrm>
            <a:off x="4830128" y="2048232"/>
            <a:ext cx="3330535" cy="38492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400"/>
              <a:buFont typeface="Alice"/>
              <a:buNone/>
            </a:pPr>
            <a:r>
              <a:rPr b="0" i="0" lang="en-US" sz="2400" u="none" cap="none" strike="noStrike">
                <a:solidFill>
                  <a:srgbClr val="233E32"/>
                </a:solidFill>
                <a:latin typeface="Alice"/>
                <a:ea typeface="Alice"/>
                <a:cs typeface="Alice"/>
                <a:sym typeface="Alice"/>
              </a:rPr>
              <a:t>Technical Requirements</a:t>
            </a:r>
            <a:endParaRPr b="0" i="0" sz="2400" u="none" cap="none" strike="noStrike"/>
          </a:p>
        </p:txBody>
      </p:sp>
      <p:sp>
        <p:nvSpPr>
          <p:cNvPr id="72" name="Google Shape;72;p14"/>
          <p:cNvSpPr/>
          <p:nvPr/>
        </p:nvSpPr>
        <p:spPr>
          <a:xfrm>
            <a:off x="4830128" y="2638425"/>
            <a:ext cx="3602831" cy="985837"/>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C2821"/>
              </a:buClr>
              <a:buSzPts val="1600"/>
              <a:buFont typeface="Lora"/>
              <a:buChar char="•"/>
            </a:pPr>
            <a:r>
              <a:rPr b="0" i="0" lang="en-US" sz="1600" u="none" cap="none" strike="noStrike">
                <a:solidFill>
                  <a:srgbClr val="2C2821"/>
                </a:solidFill>
                <a:latin typeface="Lora"/>
                <a:ea typeface="Lora"/>
                <a:cs typeface="Lora"/>
                <a:sym typeface="Lora"/>
              </a:rPr>
              <a:t>Process high-frequency sensor data streams from multiple monitoring stations</a:t>
            </a:r>
            <a:endParaRPr b="0" i="0" sz="1600" u="none" cap="none" strike="noStrike"/>
          </a:p>
        </p:txBody>
      </p:sp>
      <p:sp>
        <p:nvSpPr>
          <p:cNvPr id="73" name="Google Shape;73;p14"/>
          <p:cNvSpPr/>
          <p:nvPr/>
        </p:nvSpPr>
        <p:spPr>
          <a:xfrm>
            <a:off x="4830128" y="3696057"/>
            <a:ext cx="3602831" cy="657225"/>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C2821"/>
              </a:buClr>
              <a:buSzPts val="1600"/>
              <a:buFont typeface="Lora"/>
              <a:buChar char="•"/>
            </a:pPr>
            <a:r>
              <a:rPr b="0" i="0" lang="en-US" sz="1600" u="none" cap="none" strike="noStrike">
                <a:solidFill>
                  <a:srgbClr val="2C2821"/>
                </a:solidFill>
                <a:latin typeface="Lora"/>
                <a:ea typeface="Lora"/>
                <a:cs typeface="Lora"/>
                <a:sym typeface="Lora"/>
              </a:rPr>
              <a:t>Detect anomalies and pollution events as they occur</a:t>
            </a:r>
            <a:endParaRPr b="0" i="0" sz="1600" u="none" cap="none" strike="noStrike"/>
          </a:p>
        </p:txBody>
      </p:sp>
      <p:sp>
        <p:nvSpPr>
          <p:cNvPr id="74" name="Google Shape;74;p14"/>
          <p:cNvSpPr/>
          <p:nvPr/>
        </p:nvSpPr>
        <p:spPr>
          <a:xfrm>
            <a:off x="4830128" y="4425077"/>
            <a:ext cx="3602831" cy="985837"/>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C2821"/>
              </a:buClr>
              <a:buSzPts val="1600"/>
              <a:buFont typeface="Lora"/>
              <a:buChar char="•"/>
            </a:pPr>
            <a:r>
              <a:rPr b="0" i="0" lang="en-US" sz="1600" u="none" cap="none" strike="noStrike">
                <a:solidFill>
                  <a:srgbClr val="2C2821"/>
                </a:solidFill>
                <a:latin typeface="Lora"/>
                <a:ea typeface="Lora"/>
                <a:cs typeface="Lora"/>
                <a:sym typeface="Lora"/>
              </a:rPr>
              <a:t>Maintain historical records for trend analysis and compliance reporting</a:t>
            </a:r>
            <a:endParaRPr b="0" i="0" sz="1600" u="none" cap="none" strike="noStrike"/>
          </a:p>
        </p:txBody>
      </p:sp>
      <p:sp>
        <p:nvSpPr>
          <p:cNvPr id="75" name="Google Shape;75;p14"/>
          <p:cNvSpPr/>
          <p:nvPr/>
        </p:nvSpPr>
        <p:spPr>
          <a:xfrm>
            <a:off x="4830128" y="5482709"/>
            <a:ext cx="3602831" cy="985837"/>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C2821"/>
              </a:buClr>
              <a:buSzPts val="1600"/>
              <a:buFont typeface="Lora"/>
              <a:buChar char="•"/>
            </a:pPr>
            <a:r>
              <a:rPr b="0" i="0" lang="en-US" sz="1600" u="none" cap="none" strike="noStrike">
                <a:solidFill>
                  <a:srgbClr val="2C2821"/>
                </a:solidFill>
                <a:latin typeface="Lora"/>
                <a:ea typeface="Lora"/>
                <a:cs typeface="Lora"/>
                <a:sym typeface="Lora"/>
              </a:rPr>
              <a:t>Provide fast access to recent measurements for operational dashboards</a:t>
            </a:r>
            <a:endParaRPr b="0" i="0" sz="16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p:nvPr/>
        </p:nvSpPr>
        <p:spPr>
          <a:xfrm>
            <a:off x="769620" y="780693"/>
            <a:ext cx="5497592" cy="68711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33E32"/>
              </a:buClr>
              <a:buSzPts val="4300"/>
              <a:buFont typeface="Alice"/>
              <a:buNone/>
            </a:pPr>
            <a:r>
              <a:rPr b="0" i="0" lang="en-US" sz="4300" u="none" cap="none" strike="noStrike">
                <a:solidFill>
                  <a:srgbClr val="233E32"/>
                </a:solidFill>
                <a:latin typeface="Alice"/>
                <a:ea typeface="Alice"/>
                <a:cs typeface="Alice"/>
                <a:sym typeface="Alice"/>
              </a:rPr>
              <a:t>Project Objectives</a:t>
            </a:r>
            <a:endParaRPr b="0" i="0" sz="4300" u="none" cap="none" strike="noStrike"/>
          </a:p>
        </p:txBody>
      </p:sp>
      <p:sp>
        <p:nvSpPr>
          <p:cNvPr id="82" name="Google Shape;82;p15"/>
          <p:cNvSpPr/>
          <p:nvPr/>
        </p:nvSpPr>
        <p:spPr>
          <a:xfrm>
            <a:off x="769620" y="2237303"/>
            <a:ext cx="6435685" cy="2331006"/>
          </a:xfrm>
          <a:prstGeom prst="roundRect">
            <a:avLst>
              <a:gd fmla="val 6276" name="adj"/>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a:off x="769620" y="2206823"/>
            <a:ext cx="6435685" cy="121920"/>
          </a:xfrm>
          <a:prstGeom prst="roundRect">
            <a:avLst>
              <a:gd fmla="val 27055"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a:off x="3657600" y="1907500"/>
            <a:ext cx="659606" cy="659606"/>
          </a:xfrm>
          <a:prstGeom prst="roundRect">
            <a:avLst>
              <a:gd fmla="val 138628"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3855482" y="2072402"/>
            <a:ext cx="263843" cy="329803"/>
          </a:xfrm>
          <a:prstGeom prst="rect">
            <a:avLst/>
          </a:prstGeom>
          <a:noFill/>
          <a:ln>
            <a:noFill/>
          </a:ln>
        </p:spPr>
        <p:txBody>
          <a:bodyPr anchorCtr="0" anchor="t" bIns="0" lIns="0" spcFirstLastPara="1" rIns="0" wrap="square" tIns="0">
            <a:noAutofit/>
          </a:bodyPr>
          <a:lstStyle/>
          <a:p>
            <a:pPr indent="0" lvl="0" marL="0" marR="0" rtl="0" algn="l">
              <a:lnSpc>
                <a:spcPct val="160975"/>
              </a:lnSpc>
              <a:spcBef>
                <a:spcPts val="0"/>
              </a:spcBef>
              <a:spcAft>
                <a:spcPts val="0"/>
              </a:spcAft>
              <a:buClr>
                <a:srgbClr val="FFFFFF"/>
              </a:buClr>
              <a:buSzPts val="2050"/>
              <a:buFont typeface="Alice"/>
              <a:buNone/>
            </a:pPr>
            <a:r>
              <a:rPr b="0" i="0" lang="en-US" sz="2050" u="none" cap="none" strike="noStrike">
                <a:solidFill>
                  <a:srgbClr val="FFFFFF"/>
                </a:solidFill>
                <a:latin typeface="Alice"/>
                <a:ea typeface="Alice"/>
                <a:cs typeface="Alice"/>
                <a:sym typeface="Alice"/>
              </a:rPr>
              <a:t>1</a:t>
            </a:r>
            <a:endParaRPr b="0" i="0" sz="2050" u="none" cap="none" strike="noStrike"/>
          </a:p>
        </p:txBody>
      </p:sp>
      <p:sp>
        <p:nvSpPr>
          <p:cNvPr id="86" name="Google Shape;86;p15"/>
          <p:cNvSpPr/>
          <p:nvPr/>
        </p:nvSpPr>
        <p:spPr>
          <a:xfrm>
            <a:off x="1019889" y="2787015"/>
            <a:ext cx="3090624" cy="343614"/>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Real-Time Data Ingestion</a:t>
            </a:r>
            <a:endParaRPr b="0" i="0" sz="2150" u="none" cap="none" strike="noStrike"/>
          </a:p>
        </p:txBody>
      </p:sp>
      <p:sp>
        <p:nvSpPr>
          <p:cNvPr id="87" name="Google Shape;87;p15"/>
          <p:cNvSpPr/>
          <p:nvPr/>
        </p:nvSpPr>
        <p:spPr>
          <a:xfrm>
            <a:off x="1019889" y="3262551"/>
            <a:ext cx="5935147" cy="1055489"/>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Continuously capture air quality measurements from distributed sensor networks with minimal latency, ensuring no data loss during peak traffic periods.</a:t>
            </a:r>
            <a:endParaRPr b="0" i="0" sz="1700" u="none" cap="none" strike="noStrike"/>
          </a:p>
        </p:txBody>
      </p:sp>
      <p:sp>
        <p:nvSpPr>
          <p:cNvPr id="88" name="Google Shape;88;p15"/>
          <p:cNvSpPr/>
          <p:nvPr/>
        </p:nvSpPr>
        <p:spPr>
          <a:xfrm>
            <a:off x="7425095" y="2237303"/>
            <a:ext cx="6435685" cy="2331006"/>
          </a:xfrm>
          <a:prstGeom prst="roundRect">
            <a:avLst>
              <a:gd fmla="val 6276" name="adj"/>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7425095" y="2206823"/>
            <a:ext cx="6435685" cy="121920"/>
          </a:xfrm>
          <a:prstGeom prst="roundRect">
            <a:avLst>
              <a:gd fmla="val 27055"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10313075" y="1907500"/>
            <a:ext cx="659606" cy="659606"/>
          </a:xfrm>
          <a:prstGeom prst="roundRect">
            <a:avLst>
              <a:gd fmla="val 138628"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a:off x="10510957" y="2072402"/>
            <a:ext cx="263843" cy="329803"/>
          </a:xfrm>
          <a:prstGeom prst="rect">
            <a:avLst/>
          </a:prstGeom>
          <a:noFill/>
          <a:ln>
            <a:noFill/>
          </a:ln>
        </p:spPr>
        <p:txBody>
          <a:bodyPr anchorCtr="0" anchor="t" bIns="0" lIns="0" spcFirstLastPara="1" rIns="0" wrap="square" tIns="0">
            <a:noAutofit/>
          </a:bodyPr>
          <a:lstStyle/>
          <a:p>
            <a:pPr indent="0" lvl="0" marL="0" marR="0" rtl="0" algn="l">
              <a:lnSpc>
                <a:spcPct val="160975"/>
              </a:lnSpc>
              <a:spcBef>
                <a:spcPts val="0"/>
              </a:spcBef>
              <a:spcAft>
                <a:spcPts val="0"/>
              </a:spcAft>
              <a:buClr>
                <a:srgbClr val="FFFFFF"/>
              </a:buClr>
              <a:buSzPts val="2050"/>
              <a:buFont typeface="Alice"/>
              <a:buNone/>
            </a:pPr>
            <a:r>
              <a:rPr b="0" i="0" lang="en-US" sz="2050" u="none" cap="none" strike="noStrike">
                <a:solidFill>
                  <a:srgbClr val="FFFFFF"/>
                </a:solidFill>
                <a:latin typeface="Alice"/>
                <a:ea typeface="Alice"/>
                <a:cs typeface="Alice"/>
                <a:sym typeface="Alice"/>
              </a:rPr>
              <a:t>2</a:t>
            </a:r>
            <a:endParaRPr b="0" i="0" sz="2050" u="none" cap="none" strike="noStrike"/>
          </a:p>
        </p:txBody>
      </p:sp>
      <p:sp>
        <p:nvSpPr>
          <p:cNvPr id="92" name="Google Shape;92;p15"/>
          <p:cNvSpPr/>
          <p:nvPr/>
        </p:nvSpPr>
        <p:spPr>
          <a:xfrm>
            <a:off x="7675364" y="2787015"/>
            <a:ext cx="3556754" cy="343614"/>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Pollution Anomaly Detection</a:t>
            </a:r>
            <a:endParaRPr b="0" i="0" sz="2150" u="none" cap="none" strike="noStrike"/>
          </a:p>
        </p:txBody>
      </p:sp>
      <p:sp>
        <p:nvSpPr>
          <p:cNvPr id="93" name="Google Shape;93;p15"/>
          <p:cNvSpPr/>
          <p:nvPr/>
        </p:nvSpPr>
        <p:spPr>
          <a:xfrm>
            <a:off x="7675364" y="3262551"/>
            <a:ext cx="5935147" cy="1055489"/>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Identify unusual pollution patterns and threshold violations in real-time, enabling immediate response to environmental hazards and public health risks.</a:t>
            </a:r>
            <a:endParaRPr b="0" i="0" sz="1700" u="none" cap="none" strike="noStrike"/>
          </a:p>
        </p:txBody>
      </p:sp>
      <p:sp>
        <p:nvSpPr>
          <p:cNvPr id="94" name="Google Shape;94;p15"/>
          <p:cNvSpPr/>
          <p:nvPr/>
        </p:nvSpPr>
        <p:spPr>
          <a:xfrm>
            <a:off x="769620" y="5117902"/>
            <a:ext cx="6435685" cy="2331006"/>
          </a:xfrm>
          <a:prstGeom prst="roundRect">
            <a:avLst>
              <a:gd fmla="val 6276" name="adj"/>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a:off x="769620" y="5087422"/>
            <a:ext cx="6435685" cy="121920"/>
          </a:xfrm>
          <a:prstGeom prst="roundRect">
            <a:avLst>
              <a:gd fmla="val 27055"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a:off x="3657600" y="4788098"/>
            <a:ext cx="659606" cy="659606"/>
          </a:xfrm>
          <a:prstGeom prst="roundRect">
            <a:avLst>
              <a:gd fmla="val 138628"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a:off x="3855482" y="4953000"/>
            <a:ext cx="263843" cy="329803"/>
          </a:xfrm>
          <a:prstGeom prst="rect">
            <a:avLst/>
          </a:prstGeom>
          <a:noFill/>
          <a:ln>
            <a:noFill/>
          </a:ln>
        </p:spPr>
        <p:txBody>
          <a:bodyPr anchorCtr="0" anchor="t" bIns="0" lIns="0" spcFirstLastPara="1" rIns="0" wrap="square" tIns="0">
            <a:noAutofit/>
          </a:bodyPr>
          <a:lstStyle/>
          <a:p>
            <a:pPr indent="0" lvl="0" marL="0" marR="0" rtl="0" algn="l">
              <a:lnSpc>
                <a:spcPct val="160975"/>
              </a:lnSpc>
              <a:spcBef>
                <a:spcPts val="0"/>
              </a:spcBef>
              <a:spcAft>
                <a:spcPts val="0"/>
              </a:spcAft>
              <a:buClr>
                <a:srgbClr val="FFFFFF"/>
              </a:buClr>
              <a:buSzPts val="2050"/>
              <a:buFont typeface="Alice"/>
              <a:buNone/>
            </a:pPr>
            <a:r>
              <a:rPr b="0" i="0" lang="en-US" sz="2050" u="none" cap="none" strike="noStrike">
                <a:solidFill>
                  <a:srgbClr val="FFFFFF"/>
                </a:solidFill>
                <a:latin typeface="Alice"/>
                <a:ea typeface="Alice"/>
                <a:cs typeface="Alice"/>
                <a:sym typeface="Alice"/>
              </a:rPr>
              <a:t>3</a:t>
            </a:r>
            <a:endParaRPr b="0" i="0" sz="2050" u="none" cap="none" strike="noStrike"/>
          </a:p>
        </p:txBody>
      </p:sp>
      <p:sp>
        <p:nvSpPr>
          <p:cNvPr id="98" name="Google Shape;98;p15"/>
          <p:cNvSpPr/>
          <p:nvPr/>
        </p:nvSpPr>
        <p:spPr>
          <a:xfrm>
            <a:off x="1019889" y="5667613"/>
            <a:ext cx="2773799" cy="343614"/>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Fast Dashboard Access</a:t>
            </a:r>
            <a:endParaRPr b="0" i="0" sz="2150" u="none" cap="none" strike="noStrike"/>
          </a:p>
        </p:txBody>
      </p:sp>
      <p:sp>
        <p:nvSpPr>
          <p:cNvPr id="99" name="Google Shape;99;p15"/>
          <p:cNvSpPr/>
          <p:nvPr/>
        </p:nvSpPr>
        <p:spPr>
          <a:xfrm>
            <a:off x="1019889" y="6143149"/>
            <a:ext cx="5935147" cy="1055489"/>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Deliver sub-second query performance for operational dashboards displaying current conditions, recent trends, and station status across the monitoring network.</a:t>
            </a:r>
            <a:endParaRPr b="0" i="0" sz="1700" u="none" cap="none" strike="noStrike"/>
          </a:p>
        </p:txBody>
      </p:sp>
      <p:sp>
        <p:nvSpPr>
          <p:cNvPr id="100" name="Google Shape;100;p15"/>
          <p:cNvSpPr/>
          <p:nvPr/>
        </p:nvSpPr>
        <p:spPr>
          <a:xfrm>
            <a:off x="7425095" y="5117902"/>
            <a:ext cx="6435685" cy="2331006"/>
          </a:xfrm>
          <a:prstGeom prst="roundRect">
            <a:avLst>
              <a:gd fmla="val 6276" name="adj"/>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7425095" y="5087422"/>
            <a:ext cx="6435685" cy="121920"/>
          </a:xfrm>
          <a:prstGeom prst="roundRect">
            <a:avLst>
              <a:gd fmla="val 27055"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10313075" y="4788098"/>
            <a:ext cx="659606" cy="659606"/>
          </a:xfrm>
          <a:prstGeom prst="roundRect">
            <a:avLst>
              <a:gd fmla="val 138628"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10510957" y="4953000"/>
            <a:ext cx="263843" cy="329803"/>
          </a:xfrm>
          <a:prstGeom prst="rect">
            <a:avLst/>
          </a:prstGeom>
          <a:noFill/>
          <a:ln>
            <a:noFill/>
          </a:ln>
        </p:spPr>
        <p:txBody>
          <a:bodyPr anchorCtr="0" anchor="t" bIns="0" lIns="0" spcFirstLastPara="1" rIns="0" wrap="square" tIns="0">
            <a:noAutofit/>
          </a:bodyPr>
          <a:lstStyle/>
          <a:p>
            <a:pPr indent="0" lvl="0" marL="0" marR="0" rtl="0" algn="l">
              <a:lnSpc>
                <a:spcPct val="160975"/>
              </a:lnSpc>
              <a:spcBef>
                <a:spcPts val="0"/>
              </a:spcBef>
              <a:spcAft>
                <a:spcPts val="0"/>
              </a:spcAft>
              <a:buClr>
                <a:srgbClr val="FFFFFF"/>
              </a:buClr>
              <a:buSzPts val="2050"/>
              <a:buFont typeface="Alice"/>
              <a:buNone/>
            </a:pPr>
            <a:r>
              <a:rPr b="0" i="0" lang="en-US" sz="2050" u="none" cap="none" strike="noStrike">
                <a:solidFill>
                  <a:srgbClr val="FFFFFF"/>
                </a:solidFill>
                <a:latin typeface="Alice"/>
                <a:ea typeface="Alice"/>
                <a:cs typeface="Alice"/>
                <a:sym typeface="Alice"/>
              </a:rPr>
              <a:t>4</a:t>
            </a:r>
            <a:endParaRPr b="0" i="0" sz="2050" u="none" cap="none" strike="noStrike"/>
          </a:p>
        </p:txBody>
      </p:sp>
      <p:sp>
        <p:nvSpPr>
          <p:cNvPr id="104" name="Google Shape;104;p15"/>
          <p:cNvSpPr/>
          <p:nvPr/>
        </p:nvSpPr>
        <p:spPr>
          <a:xfrm>
            <a:off x="7675364" y="5667613"/>
            <a:ext cx="2748796" cy="343614"/>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Long-Term Analytics</a:t>
            </a:r>
            <a:endParaRPr b="0" i="0" sz="2150" u="none" cap="none" strike="noStrike"/>
          </a:p>
        </p:txBody>
      </p:sp>
      <p:sp>
        <p:nvSpPr>
          <p:cNvPr id="105" name="Google Shape;105;p15"/>
          <p:cNvSpPr/>
          <p:nvPr/>
        </p:nvSpPr>
        <p:spPr>
          <a:xfrm>
            <a:off x="7675364" y="6143149"/>
            <a:ext cx="5935147" cy="1055489"/>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Support comprehensive historical analysis, regulatory reporting, and data science workloads using efficient batch processing and optimized storage formats.</a:t>
            </a:r>
            <a:endParaRPr b="0" i="0" sz="17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p:nvPr/>
        </p:nvSpPr>
        <p:spPr>
          <a:xfrm>
            <a:off x="789503" y="620316"/>
            <a:ext cx="5639276" cy="704850"/>
          </a:xfrm>
          <a:prstGeom prst="rect">
            <a:avLst/>
          </a:prstGeom>
          <a:noFill/>
          <a:ln>
            <a:noFill/>
          </a:ln>
        </p:spPr>
        <p:txBody>
          <a:bodyPr anchorCtr="0" anchor="t" bIns="0" lIns="0" spcFirstLastPara="1" rIns="0" wrap="square" tIns="0">
            <a:noAutofit/>
          </a:bodyPr>
          <a:lstStyle/>
          <a:p>
            <a:pPr indent="0" lvl="0" marL="0" marR="0" rtl="0" algn="l">
              <a:lnSpc>
                <a:spcPct val="126136"/>
              </a:lnSpc>
              <a:spcBef>
                <a:spcPts val="0"/>
              </a:spcBef>
              <a:spcAft>
                <a:spcPts val="0"/>
              </a:spcAft>
              <a:buClr>
                <a:srgbClr val="233E32"/>
              </a:buClr>
              <a:buSzPts val="4400"/>
              <a:buFont typeface="Alice"/>
              <a:buNone/>
            </a:pPr>
            <a:r>
              <a:rPr b="0" i="0" lang="en-US" sz="4400" u="none" cap="none" strike="noStrike">
                <a:solidFill>
                  <a:srgbClr val="233E32"/>
                </a:solidFill>
                <a:latin typeface="Alice"/>
                <a:ea typeface="Alice"/>
                <a:cs typeface="Alice"/>
                <a:sym typeface="Alice"/>
              </a:rPr>
              <a:t>Technology Stack</a:t>
            </a:r>
            <a:endParaRPr b="0" i="0" sz="4400" u="none" cap="none" strike="noStrike"/>
          </a:p>
        </p:txBody>
      </p:sp>
      <p:sp>
        <p:nvSpPr>
          <p:cNvPr id="112" name="Google Shape;112;p16"/>
          <p:cNvSpPr/>
          <p:nvPr/>
        </p:nvSpPr>
        <p:spPr>
          <a:xfrm>
            <a:off x="789503" y="1776293"/>
            <a:ext cx="13051393" cy="5835967"/>
          </a:xfrm>
          <a:prstGeom prst="roundRect">
            <a:avLst>
              <a:gd fmla="val 580"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797123" y="1783913"/>
            <a:ext cx="13036153" cy="646748"/>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1022628" y="1926788"/>
            <a:ext cx="475964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1" i="0" lang="en-US" sz="1750" u="none" cap="none" strike="noStrike">
                <a:solidFill>
                  <a:srgbClr val="2C2821"/>
                </a:solidFill>
                <a:latin typeface="Lora"/>
                <a:ea typeface="Lora"/>
                <a:cs typeface="Lora"/>
                <a:sym typeface="Lora"/>
              </a:rPr>
              <a:t>Component</a:t>
            </a:r>
            <a:endParaRPr b="0" i="0" sz="1750" u="none" cap="none" strike="noStrike"/>
          </a:p>
        </p:txBody>
      </p:sp>
      <p:sp>
        <p:nvSpPr>
          <p:cNvPr id="115" name="Google Shape;115;p16"/>
          <p:cNvSpPr/>
          <p:nvPr/>
        </p:nvSpPr>
        <p:spPr>
          <a:xfrm>
            <a:off x="6240899" y="1926788"/>
            <a:ext cx="736687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1" i="0" lang="en-US" sz="1750" u="none" cap="none" strike="noStrike">
                <a:solidFill>
                  <a:srgbClr val="2C2821"/>
                </a:solidFill>
                <a:latin typeface="Lora"/>
                <a:ea typeface="Lora"/>
                <a:cs typeface="Lora"/>
                <a:sym typeface="Lora"/>
              </a:rPr>
              <a:t>Technology</a:t>
            </a:r>
            <a:endParaRPr b="0" i="0" sz="1750" u="none" cap="none" strike="noStrike"/>
          </a:p>
        </p:txBody>
      </p:sp>
      <p:sp>
        <p:nvSpPr>
          <p:cNvPr id="116" name="Google Shape;116;p16"/>
          <p:cNvSpPr/>
          <p:nvPr/>
        </p:nvSpPr>
        <p:spPr>
          <a:xfrm>
            <a:off x="797123" y="2430661"/>
            <a:ext cx="13036153" cy="646748"/>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1022628" y="2573536"/>
            <a:ext cx="475964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Message Broker</a:t>
            </a:r>
            <a:endParaRPr b="0" i="0" sz="1750" u="none" cap="none" strike="noStrike"/>
          </a:p>
        </p:txBody>
      </p:sp>
      <p:sp>
        <p:nvSpPr>
          <p:cNvPr id="118" name="Google Shape;118;p16"/>
          <p:cNvSpPr/>
          <p:nvPr/>
        </p:nvSpPr>
        <p:spPr>
          <a:xfrm>
            <a:off x="6240899" y="2573536"/>
            <a:ext cx="736687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Apache Kafka</a:t>
            </a:r>
            <a:endParaRPr b="0" i="0" sz="1750" u="none" cap="none" strike="noStrike"/>
          </a:p>
        </p:txBody>
      </p:sp>
      <p:sp>
        <p:nvSpPr>
          <p:cNvPr id="119" name="Google Shape;119;p16"/>
          <p:cNvSpPr/>
          <p:nvPr/>
        </p:nvSpPr>
        <p:spPr>
          <a:xfrm>
            <a:off x="797123" y="3077408"/>
            <a:ext cx="13036153" cy="646748"/>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p:nvPr/>
        </p:nvSpPr>
        <p:spPr>
          <a:xfrm>
            <a:off x="1022628" y="3220283"/>
            <a:ext cx="475964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Stream Processing</a:t>
            </a:r>
            <a:endParaRPr b="0" i="0" sz="1750" u="none" cap="none" strike="noStrike"/>
          </a:p>
        </p:txBody>
      </p:sp>
      <p:sp>
        <p:nvSpPr>
          <p:cNvPr id="121" name="Google Shape;121;p16"/>
          <p:cNvSpPr/>
          <p:nvPr/>
        </p:nvSpPr>
        <p:spPr>
          <a:xfrm>
            <a:off x="6240899" y="3220283"/>
            <a:ext cx="736687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Apache Spark Structured Streaming</a:t>
            </a:r>
            <a:endParaRPr b="0" i="0" sz="1750" u="none" cap="none" strike="noStrike"/>
          </a:p>
        </p:txBody>
      </p:sp>
      <p:sp>
        <p:nvSpPr>
          <p:cNvPr id="122" name="Google Shape;122;p16"/>
          <p:cNvSpPr/>
          <p:nvPr/>
        </p:nvSpPr>
        <p:spPr>
          <a:xfrm>
            <a:off x="797123" y="3724156"/>
            <a:ext cx="13036153" cy="646748"/>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1022628" y="3867031"/>
            <a:ext cx="475964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Batch Processing</a:t>
            </a:r>
            <a:endParaRPr b="0" i="0" sz="1750" u="none" cap="none" strike="noStrike"/>
          </a:p>
        </p:txBody>
      </p:sp>
      <p:sp>
        <p:nvSpPr>
          <p:cNvPr id="124" name="Google Shape;124;p16"/>
          <p:cNvSpPr/>
          <p:nvPr/>
        </p:nvSpPr>
        <p:spPr>
          <a:xfrm>
            <a:off x="6240899" y="3867031"/>
            <a:ext cx="736687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Apache Spark SQL</a:t>
            </a:r>
            <a:endParaRPr b="0" i="0" sz="1750" u="none" cap="none" strike="noStrike"/>
          </a:p>
        </p:txBody>
      </p:sp>
      <p:sp>
        <p:nvSpPr>
          <p:cNvPr id="125" name="Google Shape;125;p16"/>
          <p:cNvSpPr/>
          <p:nvPr/>
        </p:nvSpPr>
        <p:spPr>
          <a:xfrm>
            <a:off x="797123" y="4370903"/>
            <a:ext cx="13036153" cy="646748"/>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1022628" y="4513778"/>
            <a:ext cx="475964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Time-Series Storage</a:t>
            </a:r>
            <a:endParaRPr b="0" i="0" sz="1750" u="none" cap="none" strike="noStrike"/>
          </a:p>
        </p:txBody>
      </p:sp>
      <p:sp>
        <p:nvSpPr>
          <p:cNvPr id="127" name="Google Shape;127;p16"/>
          <p:cNvSpPr/>
          <p:nvPr/>
        </p:nvSpPr>
        <p:spPr>
          <a:xfrm>
            <a:off x="6240899" y="4513778"/>
            <a:ext cx="736687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Apache Cassandra</a:t>
            </a:r>
            <a:endParaRPr b="0" i="0" sz="1750" u="none" cap="none" strike="noStrike"/>
          </a:p>
        </p:txBody>
      </p:sp>
      <p:sp>
        <p:nvSpPr>
          <p:cNvPr id="128" name="Google Shape;128;p16"/>
          <p:cNvSpPr/>
          <p:nvPr/>
        </p:nvSpPr>
        <p:spPr>
          <a:xfrm>
            <a:off x="797123" y="5017651"/>
            <a:ext cx="13036153" cy="646748"/>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1022628" y="5160526"/>
            <a:ext cx="475964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Relational Database</a:t>
            </a:r>
            <a:endParaRPr b="0" i="0" sz="1750" u="none" cap="none" strike="noStrike"/>
          </a:p>
        </p:txBody>
      </p:sp>
      <p:sp>
        <p:nvSpPr>
          <p:cNvPr id="130" name="Google Shape;130;p16"/>
          <p:cNvSpPr/>
          <p:nvPr/>
        </p:nvSpPr>
        <p:spPr>
          <a:xfrm>
            <a:off x="6240899" y="5160526"/>
            <a:ext cx="736687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MySQL</a:t>
            </a:r>
            <a:endParaRPr b="0" i="0" sz="1750" u="none" cap="none" strike="noStrike"/>
          </a:p>
        </p:txBody>
      </p:sp>
      <p:sp>
        <p:nvSpPr>
          <p:cNvPr id="131" name="Google Shape;131;p16"/>
          <p:cNvSpPr/>
          <p:nvPr/>
        </p:nvSpPr>
        <p:spPr>
          <a:xfrm>
            <a:off x="797123" y="5664398"/>
            <a:ext cx="13036153" cy="646748"/>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1022628" y="5807273"/>
            <a:ext cx="475964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Analytics Storage</a:t>
            </a:r>
            <a:endParaRPr b="0" i="0" sz="1750" u="none" cap="none" strike="noStrike"/>
          </a:p>
        </p:txBody>
      </p:sp>
      <p:sp>
        <p:nvSpPr>
          <p:cNvPr id="133" name="Google Shape;133;p16"/>
          <p:cNvSpPr/>
          <p:nvPr/>
        </p:nvSpPr>
        <p:spPr>
          <a:xfrm>
            <a:off x="6240899" y="5807273"/>
            <a:ext cx="736687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Amazon S3 with Protobuf</a:t>
            </a:r>
            <a:endParaRPr b="0" i="0" sz="1750" u="none" cap="none" strike="noStrike"/>
          </a:p>
        </p:txBody>
      </p:sp>
      <p:sp>
        <p:nvSpPr>
          <p:cNvPr id="134" name="Google Shape;134;p16"/>
          <p:cNvSpPr/>
          <p:nvPr/>
        </p:nvSpPr>
        <p:spPr>
          <a:xfrm>
            <a:off x="797123" y="6311146"/>
            <a:ext cx="13036153" cy="646748"/>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a:off x="1022628" y="6454021"/>
            <a:ext cx="475964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API Framework</a:t>
            </a:r>
            <a:endParaRPr b="0" i="0" sz="1750" u="none" cap="none" strike="noStrike"/>
          </a:p>
        </p:txBody>
      </p:sp>
      <p:sp>
        <p:nvSpPr>
          <p:cNvPr id="136" name="Google Shape;136;p16"/>
          <p:cNvSpPr/>
          <p:nvPr/>
        </p:nvSpPr>
        <p:spPr>
          <a:xfrm>
            <a:off x="6240899" y="6454021"/>
            <a:ext cx="736687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Play Framework (Scala)</a:t>
            </a:r>
            <a:endParaRPr b="0" i="0" sz="1750" u="none" cap="none" strike="noStrike"/>
          </a:p>
        </p:txBody>
      </p:sp>
      <p:sp>
        <p:nvSpPr>
          <p:cNvPr id="137" name="Google Shape;137;p16"/>
          <p:cNvSpPr/>
          <p:nvPr/>
        </p:nvSpPr>
        <p:spPr>
          <a:xfrm>
            <a:off x="797123" y="6957893"/>
            <a:ext cx="13036153" cy="646748"/>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1022628" y="7100768"/>
            <a:ext cx="475964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Sensor Simulation</a:t>
            </a:r>
            <a:endParaRPr b="0" i="0" sz="1750" u="none" cap="none" strike="noStrike"/>
          </a:p>
        </p:txBody>
      </p:sp>
      <p:sp>
        <p:nvSpPr>
          <p:cNvPr id="139" name="Google Shape;139;p16"/>
          <p:cNvSpPr/>
          <p:nvPr/>
        </p:nvSpPr>
        <p:spPr>
          <a:xfrm>
            <a:off x="6240899" y="7100768"/>
            <a:ext cx="7366873" cy="36099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Akka Actors</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7"/>
          <p:cNvSpPr/>
          <p:nvPr/>
        </p:nvSpPr>
        <p:spPr>
          <a:xfrm>
            <a:off x="549540" y="472276"/>
            <a:ext cx="86634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Architecture Overview</a:t>
            </a:r>
            <a:endParaRPr b="0" i="0" sz="4450" u="none" cap="none" strike="noStrike"/>
          </a:p>
        </p:txBody>
      </p:sp>
      <p:pic>
        <p:nvPicPr>
          <p:cNvPr id="146" name="Google Shape;146;p17"/>
          <p:cNvPicPr preferRelativeResize="0"/>
          <p:nvPr/>
        </p:nvPicPr>
        <p:blipFill>
          <a:blip r:embed="rId3">
            <a:alphaModFix/>
          </a:blip>
          <a:stretch>
            <a:fillRect/>
          </a:stretch>
        </p:blipFill>
        <p:spPr>
          <a:xfrm>
            <a:off x="152400" y="3080976"/>
            <a:ext cx="14325601" cy="243423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8"/>
          <p:cNvSpPr/>
          <p:nvPr/>
        </p:nvSpPr>
        <p:spPr>
          <a:xfrm>
            <a:off x="558998" y="823555"/>
            <a:ext cx="5567482" cy="49911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33E32"/>
              </a:buClr>
              <a:buSzPts val="3100"/>
              <a:buFont typeface="Alice"/>
              <a:buNone/>
            </a:pPr>
            <a:r>
              <a:rPr b="0" i="0" lang="en-US" sz="3100" u="none" cap="none" strike="noStrike">
                <a:solidFill>
                  <a:srgbClr val="233E32"/>
                </a:solidFill>
                <a:latin typeface="Alice"/>
                <a:ea typeface="Alice"/>
                <a:cs typeface="Alice"/>
                <a:sym typeface="Alice"/>
              </a:rPr>
              <a:t>Technology Selection Rationale</a:t>
            </a:r>
            <a:endParaRPr b="0" i="0" sz="3100" u="none" cap="none" strike="noStrike"/>
          </a:p>
        </p:txBody>
      </p:sp>
      <p:sp>
        <p:nvSpPr>
          <p:cNvPr id="153" name="Google Shape;153;p18"/>
          <p:cNvSpPr/>
          <p:nvPr/>
        </p:nvSpPr>
        <p:spPr>
          <a:xfrm>
            <a:off x="558998" y="1642110"/>
            <a:ext cx="6676311" cy="1814870"/>
          </a:xfrm>
          <a:prstGeom prst="roundRect">
            <a:avLst>
              <a:gd fmla="val 132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p:nvPr/>
        </p:nvSpPr>
        <p:spPr>
          <a:xfrm>
            <a:off x="718661" y="1801773"/>
            <a:ext cx="479227" cy="479227"/>
          </a:xfrm>
          <a:prstGeom prst="roundRect">
            <a:avLst>
              <a:gd fmla="val 19078820"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5" name="Google Shape;155;p18"/>
          <p:cNvPicPr preferRelativeResize="0"/>
          <p:nvPr/>
        </p:nvPicPr>
        <p:blipFill rotWithShape="1">
          <a:blip r:embed="rId3">
            <a:alphaModFix/>
          </a:blip>
          <a:srcRect b="0" l="0" r="0" t="0"/>
          <a:stretch/>
        </p:blipFill>
        <p:spPr>
          <a:xfrm>
            <a:off x="850463" y="1933456"/>
            <a:ext cx="215622" cy="215622"/>
          </a:xfrm>
          <a:prstGeom prst="rect">
            <a:avLst/>
          </a:prstGeom>
          <a:noFill/>
          <a:ln>
            <a:noFill/>
          </a:ln>
        </p:spPr>
      </p:pic>
      <p:sp>
        <p:nvSpPr>
          <p:cNvPr id="156" name="Google Shape;156;p18"/>
          <p:cNvSpPr/>
          <p:nvPr/>
        </p:nvSpPr>
        <p:spPr>
          <a:xfrm>
            <a:off x="718661" y="2440662"/>
            <a:ext cx="1996678" cy="249555"/>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C2821"/>
              </a:buClr>
              <a:buSzPts val="1550"/>
              <a:buFont typeface="Alice"/>
              <a:buNone/>
            </a:pPr>
            <a:r>
              <a:rPr b="0" i="0" lang="en-US" sz="1550" u="none" cap="none" strike="noStrike">
                <a:solidFill>
                  <a:srgbClr val="2C2821"/>
                </a:solidFill>
                <a:latin typeface="Alice"/>
                <a:ea typeface="Alice"/>
                <a:cs typeface="Alice"/>
                <a:sym typeface="Alice"/>
              </a:rPr>
              <a:t>Apache Kafka</a:t>
            </a:r>
            <a:endParaRPr b="0" i="0" sz="1550" u="none" cap="none" strike="noStrike"/>
          </a:p>
        </p:txBody>
      </p:sp>
      <p:sp>
        <p:nvSpPr>
          <p:cNvPr id="157" name="Google Shape;157;p18"/>
          <p:cNvSpPr/>
          <p:nvPr/>
        </p:nvSpPr>
        <p:spPr>
          <a:xfrm>
            <a:off x="718661" y="2786062"/>
            <a:ext cx="6356985" cy="51125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250"/>
              <a:buFont typeface="Lora"/>
              <a:buNone/>
            </a:pPr>
            <a:r>
              <a:rPr b="0" i="0" lang="en-US" sz="1250" u="none" cap="none" strike="noStrike">
                <a:solidFill>
                  <a:srgbClr val="2C2821"/>
                </a:solidFill>
                <a:latin typeface="Lora"/>
                <a:ea typeface="Lora"/>
                <a:cs typeface="Lora"/>
                <a:sym typeface="Lora"/>
              </a:rPr>
              <a:t>Provides fault-tolerant message ingestion with high throughput, supporting backpressure handling and replay capabilities essential for streaming architectures.</a:t>
            </a:r>
            <a:endParaRPr b="0" i="0" sz="1250" u="none" cap="none" strike="noStrike"/>
          </a:p>
        </p:txBody>
      </p:sp>
      <p:sp>
        <p:nvSpPr>
          <p:cNvPr id="158" name="Google Shape;158;p18"/>
          <p:cNvSpPr/>
          <p:nvPr/>
        </p:nvSpPr>
        <p:spPr>
          <a:xfrm>
            <a:off x="7394972" y="1642110"/>
            <a:ext cx="6676430" cy="1814870"/>
          </a:xfrm>
          <a:prstGeom prst="roundRect">
            <a:avLst>
              <a:gd fmla="val 132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8"/>
          <p:cNvSpPr/>
          <p:nvPr/>
        </p:nvSpPr>
        <p:spPr>
          <a:xfrm>
            <a:off x="7554635" y="1801773"/>
            <a:ext cx="479227" cy="479227"/>
          </a:xfrm>
          <a:prstGeom prst="roundRect">
            <a:avLst>
              <a:gd fmla="val 19078820"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0" name="Google Shape;160;p18"/>
          <p:cNvPicPr preferRelativeResize="0"/>
          <p:nvPr/>
        </p:nvPicPr>
        <p:blipFill rotWithShape="1">
          <a:blip r:embed="rId4">
            <a:alphaModFix/>
          </a:blip>
          <a:srcRect b="0" l="0" r="0" t="0"/>
          <a:stretch/>
        </p:blipFill>
        <p:spPr>
          <a:xfrm>
            <a:off x="7686437" y="1933456"/>
            <a:ext cx="215622" cy="215622"/>
          </a:xfrm>
          <a:prstGeom prst="rect">
            <a:avLst/>
          </a:prstGeom>
          <a:noFill/>
          <a:ln>
            <a:noFill/>
          </a:ln>
        </p:spPr>
      </p:pic>
      <p:sp>
        <p:nvSpPr>
          <p:cNvPr id="161" name="Google Shape;161;p18"/>
          <p:cNvSpPr/>
          <p:nvPr/>
        </p:nvSpPr>
        <p:spPr>
          <a:xfrm>
            <a:off x="7554635" y="2440662"/>
            <a:ext cx="1996678" cy="249555"/>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C2821"/>
              </a:buClr>
              <a:buSzPts val="1550"/>
              <a:buFont typeface="Alice"/>
              <a:buNone/>
            </a:pPr>
            <a:r>
              <a:rPr b="0" i="0" lang="en-US" sz="1550" u="none" cap="none" strike="noStrike">
                <a:solidFill>
                  <a:srgbClr val="2C2821"/>
                </a:solidFill>
                <a:latin typeface="Alice"/>
                <a:ea typeface="Alice"/>
                <a:cs typeface="Alice"/>
                <a:sym typeface="Alice"/>
              </a:rPr>
              <a:t>Apache Spark</a:t>
            </a:r>
            <a:endParaRPr b="0" i="0" sz="1550" u="none" cap="none" strike="noStrike"/>
          </a:p>
        </p:txBody>
      </p:sp>
      <p:sp>
        <p:nvSpPr>
          <p:cNvPr id="162" name="Google Shape;162;p18"/>
          <p:cNvSpPr/>
          <p:nvPr/>
        </p:nvSpPr>
        <p:spPr>
          <a:xfrm>
            <a:off x="7554635" y="2786062"/>
            <a:ext cx="6357104" cy="51125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250"/>
              <a:buFont typeface="Lora"/>
              <a:buNone/>
            </a:pPr>
            <a:r>
              <a:rPr b="0" i="0" lang="en-US" sz="1250" u="none" cap="none" strike="noStrike">
                <a:solidFill>
                  <a:srgbClr val="2C2821"/>
                </a:solidFill>
                <a:latin typeface="Lora"/>
                <a:ea typeface="Lora"/>
                <a:cs typeface="Lora"/>
                <a:sym typeface="Lora"/>
              </a:rPr>
              <a:t>Unified engine for both streaming and batch processing, reducing operational complexity. Structured APIs simplify development and testing of data pipelines.</a:t>
            </a:r>
            <a:endParaRPr b="0" i="0" sz="1250" u="none" cap="none" strike="noStrike"/>
          </a:p>
        </p:txBody>
      </p:sp>
      <p:sp>
        <p:nvSpPr>
          <p:cNvPr id="163" name="Google Shape;163;p18"/>
          <p:cNvSpPr/>
          <p:nvPr/>
        </p:nvSpPr>
        <p:spPr>
          <a:xfrm>
            <a:off x="558998" y="3616643"/>
            <a:ext cx="6676311" cy="1814870"/>
          </a:xfrm>
          <a:prstGeom prst="roundRect">
            <a:avLst>
              <a:gd fmla="val 132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8"/>
          <p:cNvSpPr/>
          <p:nvPr/>
        </p:nvSpPr>
        <p:spPr>
          <a:xfrm>
            <a:off x="718661" y="3776305"/>
            <a:ext cx="479227" cy="479227"/>
          </a:xfrm>
          <a:prstGeom prst="roundRect">
            <a:avLst>
              <a:gd fmla="val 19078820"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5" name="Google Shape;165;p18"/>
          <p:cNvPicPr preferRelativeResize="0"/>
          <p:nvPr/>
        </p:nvPicPr>
        <p:blipFill rotWithShape="1">
          <a:blip r:embed="rId5">
            <a:alphaModFix/>
          </a:blip>
          <a:srcRect b="0" l="0" r="0" t="0"/>
          <a:stretch/>
        </p:blipFill>
        <p:spPr>
          <a:xfrm>
            <a:off x="850463" y="3907988"/>
            <a:ext cx="215622" cy="215622"/>
          </a:xfrm>
          <a:prstGeom prst="rect">
            <a:avLst/>
          </a:prstGeom>
          <a:noFill/>
          <a:ln>
            <a:noFill/>
          </a:ln>
        </p:spPr>
      </p:pic>
      <p:sp>
        <p:nvSpPr>
          <p:cNvPr id="166" name="Google Shape;166;p18"/>
          <p:cNvSpPr/>
          <p:nvPr/>
        </p:nvSpPr>
        <p:spPr>
          <a:xfrm>
            <a:off x="718661" y="4415195"/>
            <a:ext cx="1996678" cy="249555"/>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C2821"/>
              </a:buClr>
              <a:buSzPts val="1550"/>
              <a:buFont typeface="Alice"/>
              <a:buNone/>
            </a:pPr>
            <a:r>
              <a:rPr b="0" i="0" lang="en-US" sz="1550" u="none" cap="none" strike="noStrike">
                <a:solidFill>
                  <a:srgbClr val="2C2821"/>
                </a:solidFill>
                <a:latin typeface="Alice"/>
                <a:ea typeface="Alice"/>
                <a:cs typeface="Alice"/>
                <a:sym typeface="Alice"/>
              </a:rPr>
              <a:t>Cassandra</a:t>
            </a:r>
            <a:endParaRPr b="0" i="0" sz="1550" u="none" cap="none" strike="noStrike"/>
          </a:p>
        </p:txBody>
      </p:sp>
      <p:sp>
        <p:nvSpPr>
          <p:cNvPr id="167" name="Google Shape;167;p18"/>
          <p:cNvSpPr/>
          <p:nvPr/>
        </p:nvSpPr>
        <p:spPr>
          <a:xfrm>
            <a:off x="718661" y="4760595"/>
            <a:ext cx="6356985" cy="51125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250"/>
              <a:buFont typeface="Lora"/>
              <a:buNone/>
            </a:pPr>
            <a:r>
              <a:rPr b="0" i="0" lang="en-US" sz="1250" u="none" cap="none" strike="noStrike">
                <a:solidFill>
                  <a:srgbClr val="2C2821"/>
                </a:solidFill>
                <a:latin typeface="Lora"/>
                <a:ea typeface="Lora"/>
                <a:cs typeface="Lora"/>
                <a:sym typeface="Lora"/>
              </a:rPr>
              <a:t>Optimized for time-series workloads with tunable consistency. Excels at write-heavy operations and provides predictable low-latency reads for recent data queries.</a:t>
            </a:r>
            <a:endParaRPr b="0" i="0" sz="1250" u="none" cap="none" strike="noStrike"/>
          </a:p>
        </p:txBody>
      </p:sp>
      <p:sp>
        <p:nvSpPr>
          <p:cNvPr id="168" name="Google Shape;168;p18"/>
          <p:cNvSpPr/>
          <p:nvPr/>
        </p:nvSpPr>
        <p:spPr>
          <a:xfrm>
            <a:off x="7394972" y="3616643"/>
            <a:ext cx="6676430" cy="1814870"/>
          </a:xfrm>
          <a:prstGeom prst="roundRect">
            <a:avLst>
              <a:gd fmla="val 132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8"/>
          <p:cNvSpPr/>
          <p:nvPr/>
        </p:nvSpPr>
        <p:spPr>
          <a:xfrm>
            <a:off x="7554635" y="3776305"/>
            <a:ext cx="479227" cy="479227"/>
          </a:xfrm>
          <a:prstGeom prst="roundRect">
            <a:avLst>
              <a:gd fmla="val 19078820"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 name="Google Shape;170;p18"/>
          <p:cNvPicPr preferRelativeResize="0"/>
          <p:nvPr/>
        </p:nvPicPr>
        <p:blipFill rotWithShape="1">
          <a:blip r:embed="rId6">
            <a:alphaModFix/>
          </a:blip>
          <a:srcRect b="0" l="0" r="0" t="0"/>
          <a:stretch/>
        </p:blipFill>
        <p:spPr>
          <a:xfrm>
            <a:off x="7686437" y="3907988"/>
            <a:ext cx="215622" cy="215622"/>
          </a:xfrm>
          <a:prstGeom prst="rect">
            <a:avLst/>
          </a:prstGeom>
          <a:noFill/>
          <a:ln>
            <a:noFill/>
          </a:ln>
        </p:spPr>
      </p:pic>
      <p:sp>
        <p:nvSpPr>
          <p:cNvPr id="171" name="Google Shape;171;p18"/>
          <p:cNvSpPr/>
          <p:nvPr/>
        </p:nvSpPr>
        <p:spPr>
          <a:xfrm>
            <a:off x="7554635" y="4415195"/>
            <a:ext cx="1996678" cy="249555"/>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C2821"/>
              </a:buClr>
              <a:buSzPts val="1550"/>
              <a:buFont typeface="Alice"/>
              <a:buNone/>
            </a:pPr>
            <a:r>
              <a:rPr b="0" i="0" lang="en-US" sz="1550" u="none" cap="none" strike="noStrike">
                <a:solidFill>
                  <a:srgbClr val="2C2821"/>
                </a:solidFill>
                <a:latin typeface="Alice"/>
                <a:ea typeface="Alice"/>
                <a:cs typeface="Alice"/>
                <a:sym typeface="Alice"/>
              </a:rPr>
              <a:t>MySQL</a:t>
            </a:r>
            <a:endParaRPr b="0" i="0" sz="1550" u="none" cap="none" strike="noStrike"/>
          </a:p>
        </p:txBody>
      </p:sp>
      <p:sp>
        <p:nvSpPr>
          <p:cNvPr id="172" name="Google Shape;172;p18"/>
          <p:cNvSpPr/>
          <p:nvPr/>
        </p:nvSpPr>
        <p:spPr>
          <a:xfrm>
            <a:off x="7554635" y="4760595"/>
            <a:ext cx="6357104" cy="51125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250"/>
              <a:buFont typeface="Lora"/>
              <a:buNone/>
            </a:pPr>
            <a:r>
              <a:rPr b="0" i="0" lang="en-US" sz="1250" u="none" cap="none" strike="noStrike">
                <a:solidFill>
                  <a:srgbClr val="2C2821"/>
                </a:solidFill>
                <a:latin typeface="Lora"/>
                <a:ea typeface="Lora"/>
                <a:cs typeface="Lora"/>
                <a:sym typeface="Lora"/>
              </a:rPr>
              <a:t>Handles relational operational data like station metadata and daily summaries. ACID compliance ensures data integrity for aggregated metrics and reporting.</a:t>
            </a:r>
            <a:endParaRPr b="0" i="0" sz="1250" u="none" cap="none" strike="noStrike"/>
          </a:p>
        </p:txBody>
      </p:sp>
      <p:sp>
        <p:nvSpPr>
          <p:cNvPr id="173" name="Google Shape;173;p18"/>
          <p:cNvSpPr/>
          <p:nvPr/>
        </p:nvSpPr>
        <p:spPr>
          <a:xfrm>
            <a:off x="558998" y="5591175"/>
            <a:ext cx="6676311" cy="1814870"/>
          </a:xfrm>
          <a:prstGeom prst="roundRect">
            <a:avLst>
              <a:gd fmla="val 132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8"/>
          <p:cNvSpPr/>
          <p:nvPr/>
        </p:nvSpPr>
        <p:spPr>
          <a:xfrm>
            <a:off x="718661" y="5750838"/>
            <a:ext cx="479227" cy="479227"/>
          </a:xfrm>
          <a:prstGeom prst="roundRect">
            <a:avLst>
              <a:gd fmla="val 19078820"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 name="Google Shape;175;p18"/>
          <p:cNvPicPr preferRelativeResize="0"/>
          <p:nvPr/>
        </p:nvPicPr>
        <p:blipFill rotWithShape="1">
          <a:blip r:embed="rId7">
            <a:alphaModFix/>
          </a:blip>
          <a:srcRect b="0" l="0" r="0" t="0"/>
          <a:stretch/>
        </p:blipFill>
        <p:spPr>
          <a:xfrm>
            <a:off x="850463" y="5882521"/>
            <a:ext cx="215622" cy="215622"/>
          </a:xfrm>
          <a:prstGeom prst="rect">
            <a:avLst/>
          </a:prstGeom>
          <a:noFill/>
          <a:ln>
            <a:noFill/>
          </a:ln>
        </p:spPr>
      </p:pic>
      <p:sp>
        <p:nvSpPr>
          <p:cNvPr id="176" name="Google Shape;176;p18"/>
          <p:cNvSpPr/>
          <p:nvPr/>
        </p:nvSpPr>
        <p:spPr>
          <a:xfrm>
            <a:off x="718661" y="6389727"/>
            <a:ext cx="1996678" cy="249555"/>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C2821"/>
              </a:buClr>
              <a:buSzPts val="1550"/>
              <a:buFont typeface="Alice"/>
              <a:buNone/>
            </a:pPr>
            <a:r>
              <a:rPr b="0" i="0" lang="en-US" sz="1550" u="none" cap="none" strike="noStrike">
                <a:solidFill>
                  <a:srgbClr val="2C2821"/>
                </a:solidFill>
                <a:latin typeface="Alice"/>
                <a:ea typeface="Alice"/>
                <a:cs typeface="Alice"/>
                <a:sym typeface="Alice"/>
              </a:rPr>
              <a:t>S3 &amp; Protobuf</a:t>
            </a:r>
            <a:endParaRPr b="0" i="0" sz="1550" u="none" cap="none" strike="noStrike"/>
          </a:p>
        </p:txBody>
      </p:sp>
      <p:sp>
        <p:nvSpPr>
          <p:cNvPr id="177" name="Google Shape;177;p18"/>
          <p:cNvSpPr/>
          <p:nvPr/>
        </p:nvSpPr>
        <p:spPr>
          <a:xfrm>
            <a:off x="718661" y="6735127"/>
            <a:ext cx="6356985" cy="51125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250"/>
              <a:buFont typeface="Lora"/>
              <a:buNone/>
            </a:pPr>
            <a:r>
              <a:rPr b="0" i="0" lang="en-US" sz="1250" u="none" cap="none" strike="noStrike">
                <a:solidFill>
                  <a:srgbClr val="2C2821"/>
                </a:solidFill>
                <a:latin typeface="Lora"/>
                <a:ea typeface="Lora"/>
                <a:cs typeface="Lora"/>
                <a:sym typeface="Lora"/>
              </a:rPr>
              <a:t>Cost-effective long-term storage with schema evolution support. Protobuf's compact binary format reduces storage costs and improves query performance for analytics.</a:t>
            </a:r>
            <a:endParaRPr b="0" i="0" sz="1250" u="none" cap="none" strike="noStrike"/>
          </a:p>
        </p:txBody>
      </p:sp>
      <p:sp>
        <p:nvSpPr>
          <p:cNvPr id="178" name="Google Shape;178;p18"/>
          <p:cNvSpPr/>
          <p:nvPr/>
        </p:nvSpPr>
        <p:spPr>
          <a:xfrm>
            <a:off x="7394972" y="5591175"/>
            <a:ext cx="6676430" cy="1814870"/>
          </a:xfrm>
          <a:prstGeom prst="roundRect">
            <a:avLst>
              <a:gd fmla="val 132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8"/>
          <p:cNvSpPr/>
          <p:nvPr/>
        </p:nvSpPr>
        <p:spPr>
          <a:xfrm>
            <a:off x="7554635" y="5750838"/>
            <a:ext cx="479227" cy="479227"/>
          </a:xfrm>
          <a:prstGeom prst="roundRect">
            <a:avLst>
              <a:gd fmla="val 19078820"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0" name="Google Shape;180;p18"/>
          <p:cNvPicPr preferRelativeResize="0"/>
          <p:nvPr/>
        </p:nvPicPr>
        <p:blipFill rotWithShape="1">
          <a:blip r:embed="rId8">
            <a:alphaModFix/>
          </a:blip>
          <a:srcRect b="0" l="0" r="0" t="0"/>
          <a:stretch/>
        </p:blipFill>
        <p:spPr>
          <a:xfrm>
            <a:off x="7686437" y="5882521"/>
            <a:ext cx="215622" cy="215622"/>
          </a:xfrm>
          <a:prstGeom prst="rect">
            <a:avLst/>
          </a:prstGeom>
          <a:noFill/>
          <a:ln>
            <a:noFill/>
          </a:ln>
        </p:spPr>
      </p:pic>
      <p:sp>
        <p:nvSpPr>
          <p:cNvPr id="181" name="Google Shape;181;p18"/>
          <p:cNvSpPr/>
          <p:nvPr/>
        </p:nvSpPr>
        <p:spPr>
          <a:xfrm>
            <a:off x="7554635" y="6389727"/>
            <a:ext cx="1996678" cy="249555"/>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C2821"/>
              </a:buClr>
              <a:buSzPts val="1550"/>
              <a:buFont typeface="Alice"/>
              <a:buNone/>
            </a:pPr>
            <a:r>
              <a:rPr b="0" i="0" lang="en-US" sz="1550" u="none" cap="none" strike="noStrike">
                <a:solidFill>
                  <a:srgbClr val="2C2821"/>
                </a:solidFill>
                <a:latin typeface="Alice"/>
                <a:ea typeface="Alice"/>
                <a:cs typeface="Alice"/>
                <a:sym typeface="Alice"/>
              </a:rPr>
              <a:t>Play Framework</a:t>
            </a:r>
            <a:endParaRPr b="0" i="0" sz="1550" u="none" cap="none" strike="noStrike"/>
          </a:p>
        </p:txBody>
      </p:sp>
      <p:sp>
        <p:nvSpPr>
          <p:cNvPr id="182" name="Google Shape;182;p18"/>
          <p:cNvSpPr/>
          <p:nvPr/>
        </p:nvSpPr>
        <p:spPr>
          <a:xfrm>
            <a:off x="7554635" y="6735127"/>
            <a:ext cx="6357104" cy="51125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250"/>
              <a:buFont typeface="Lora"/>
              <a:buNone/>
            </a:pPr>
            <a:r>
              <a:rPr b="0" i="0" lang="en-US" sz="1250" u="none" cap="none" strike="noStrike">
                <a:solidFill>
                  <a:srgbClr val="2C2821"/>
                </a:solidFill>
                <a:latin typeface="Lora"/>
                <a:ea typeface="Lora"/>
                <a:cs typeface="Lora"/>
                <a:sym typeface="Lora"/>
              </a:rPr>
              <a:t>Reactive, non-blocking API framework built on Akka. Seamlessly integrates with Scala-based data pipelines and provides robust REST endpoint capabilities.</a:t>
            </a:r>
            <a:endParaRPr b="0" i="0" sz="12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p:nvPr/>
        </p:nvSpPr>
        <p:spPr>
          <a:xfrm>
            <a:off x="396835" y="31182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Data Model Overview</a:t>
            </a:r>
            <a:endParaRPr b="0" i="0" sz="2200" u="none" cap="none" strike="noStrike"/>
          </a:p>
        </p:txBody>
      </p:sp>
      <p:sp>
        <p:nvSpPr>
          <p:cNvPr id="189" name="Google Shape;189;p19"/>
          <p:cNvSpPr/>
          <p:nvPr/>
        </p:nvSpPr>
        <p:spPr>
          <a:xfrm>
            <a:off x="396835" y="949523"/>
            <a:ext cx="1701165" cy="212646"/>
          </a:xfrm>
          <a:prstGeom prst="rect">
            <a:avLst/>
          </a:prstGeom>
          <a:noFill/>
          <a:ln>
            <a:noFill/>
          </a:ln>
        </p:spPr>
        <p:txBody>
          <a:bodyPr anchorCtr="0" anchor="t" bIns="0" lIns="0" spcFirstLastPara="1" rIns="0" wrap="square" tIns="0">
            <a:noAutofit/>
          </a:bodyPr>
          <a:lstStyle/>
          <a:p>
            <a:pPr indent="0" lvl="0" marL="0" marR="0" rtl="0" algn="l">
              <a:lnSpc>
                <a:spcPct val="126923"/>
              </a:lnSpc>
              <a:spcBef>
                <a:spcPts val="0"/>
              </a:spcBef>
              <a:spcAft>
                <a:spcPts val="0"/>
              </a:spcAft>
              <a:buClr>
                <a:srgbClr val="233E32"/>
              </a:buClr>
              <a:buSzPts val="1300"/>
              <a:buFont typeface="Alice"/>
              <a:buNone/>
            </a:pPr>
            <a:r>
              <a:rPr b="0" i="0" lang="en-US" sz="1300" u="none" cap="none" strike="noStrike">
                <a:solidFill>
                  <a:srgbClr val="233E32"/>
                </a:solidFill>
                <a:latin typeface="Alice"/>
                <a:ea typeface="Alice"/>
                <a:cs typeface="Alice"/>
                <a:sym typeface="Alice"/>
              </a:rPr>
              <a:t>MySQL Schema</a:t>
            </a:r>
            <a:endParaRPr b="0" i="0" sz="1300" u="none" cap="none" strike="noStrike"/>
          </a:p>
        </p:txBody>
      </p:sp>
      <p:sp>
        <p:nvSpPr>
          <p:cNvPr id="190" name="Google Shape;190;p19"/>
          <p:cNvSpPr/>
          <p:nvPr/>
        </p:nvSpPr>
        <p:spPr>
          <a:xfrm>
            <a:off x="396835" y="1275517"/>
            <a:ext cx="4380667" cy="181451"/>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Lora"/>
              <a:buNone/>
            </a:pPr>
            <a:r>
              <a:rPr b="1" i="0" lang="en-US" sz="850" u="none" cap="none" strike="noStrike">
                <a:solidFill>
                  <a:srgbClr val="2C2821"/>
                </a:solidFill>
                <a:latin typeface="Lora"/>
                <a:ea typeface="Lora"/>
                <a:cs typeface="Lora"/>
                <a:sym typeface="Lora"/>
              </a:rPr>
              <a:t>Operational Tables:</a:t>
            </a:r>
            <a:endParaRPr b="0" i="0" sz="850" u="none" cap="none" strike="noStrike"/>
          </a:p>
        </p:txBody>
      </p:sp>
      <p:sp>
        <p:nvSpPr>
          <p:cNvPr id="191" name="Google Shape;191;p19"/>
          <p:cNvSpPr/>
          <p:nvPr/>
        </p:nvSpPr>
        <p:spPr>
          <a:xfrm>
            <a:off x="396835" y="1559004"/>
            <a:ext cx="4380667" cy="181451"/>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Consolas"/>
              <a:buNone/>
            </a:pPr>
            <a:r>
              <a:rPr b="0" i="0" lang="en-US" sz="850" u="none" cap="none" strike="noStrike">
                <a:solidFill>
                  <a:srgbClr val="2C2821"/>
                </a:solidFill>
                <a:highlight>
                  <a:srgbClr val="EFEEEB"/>
                </a:highlight>
                <a:latin typeface="Consolas"/>
                <a:ea typeface="Consolas"/>
                <a:cs typeface="Consolas"/>
                <a:sym typeface="Consolas"/>
              </a:rPr>
              <a:t>stations</a:t>
            </a:r>
            <a:r>
              <a:rPr b="0" i="0" lang="en-US" sz="850" u="none" cap="none" strike="noStrike">
                <a:solidFill>
                  <a:srgbClr val="2C2821"/>
                </a:solidFill>
                <a:latin typeface="Lora"/>
                <a:ea typeface="Lora"/>
                <a:cs typeface="Lora"/>
                <a:sym typeface="Lora"/>
              </a:rPr>
              <a:t> – Metadata for monitoring locations</a:t>
            </a:r>
            <a:endParaRPr b="0" i="0" sz="850" u="none" cap="none" strike="noStrike"/>
          </a:p>
        </p:txBody>
      </p:sp>
      <p:sp>
        <p:nvSpPr>
          <p:cNvPr id="192" name="Google Shape;192;p19"/>
          <p:cNvSpPr/>
          <p:nvPr/>
        </p:nvSpPr>
        <p:spPr>
          <a:xfrm>
            <a:off x="396835" y="1780103"/>
            <a:ext cx="4380667" cy="181451"/>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Consolas"/>
              <a:buNone/>
            </a:pPr>
            <a:r>
              <a:rPr b="0" i="0" lang="en-US" sz="850" u="none" cap="none" strike="noStrike">
                <a:solidFill>
                  <a:srgbClr val="2C2821"/>
                </a:solidFill>
                <a:highlight>
                  <a:srgbClr val="EFEEEB"/>
                </a:highlight>
                <a:latin typeface="Consolas"/>
                <a:ea typeface="Consolas"/>
                <a:cs typeface="Consolas"/>
                <a:sym typeface="Consolas"/>
              </a:rPr>
              <a:t>daily_summaries</a:t>
            </a:r>
            <a:r>
              <a:rPr b="0" i="0" lang="en-US" sz="850" u="none" cap="none" strike="noStrike">
                <a:solidFill>
                  <a:srgbClr val="2C2821"/>
                </a:solidFill>
                <a:latin typeface="Lora"/>
                <a:ea typeface="Lora"/>
                <a:cs typeface="Lora"/>
                <a:sym typeface="Lora"/>
              </a:rPr>
              <a:t> – Aggregated pollution metrics by day</a:t>
            </a:r>
            <a:endParaRPr b="0" i="0" sz="850" u="none" cap="none" strike="noStrike"/>
          </a:p>
        </p:txBody>
      </p:sp>
      <p:sp>
        <p:nvSpPr>
          <p:cNvPr id="193" name="Google Shape;193;p19"/>
          <p:cNvSpPr/>
          <p:nvPr/>
        </p:nvSpPr>
        <p:spPr>
          <a:xfrm>
            <a:off x="396835" y="2001203"/>
            <a:ext cx="4380667" cy="181451"/>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Consolas"/>
              <a:buNone/>
            </a:pPr>
            <a:r>
              <a:rPr b="0" i="0" lang="en-US" sz="850" u="none" cap="none" strike="noStrike">
                <a:solidFill>
                  <a:srgbClr val="2C2821"/>
                </a:solidFill>
                <a:highlight>
                  <a:srgbClr val="EFEEEB"/>
                </a:highlight>
                <a:latin typeface="Consolas"/>
                <a:ea typeface="Consolas"/>
                <a:cs typeface="Consolas"/>
                <a:sym typeface="Consolas"/>
              </a:rPr>
              <a:t>anomaly_events</a:t>
            </a:r>
            <a:r>
              <a:rPr b="0" i="0" lang="en-US" sz="850" u="none" cap="none" strike="noStrike">
                <a:solidFill>
                  <a:srgbClr val="2C2821"/>
                </a:solidFill>
                <a:latin typeface="Lora"/>
                <a:ea typeface="Lora"/>
                <a:cs typeface="Lora"/>
                <a:sym typeface="Lora"/>
              </a:rPr>
              <a:t> – Detected threshold violations</a:t>
            </a:r>
            <a:endParaRPr b="0" i="0" sz="850" u="none" cap="none" strike="noStrike"/>
          </a:p>
        </p:txBody>
      </p:sp>
      <p:sp>
        <p:nvSpPr>
          <p:cNvPr id="194" name="Google Shape;194;p19"/>
          <p:cNvSpPr/>
          <p:nvPr/>
        </p:nvSpPr>
        <p:spPr>
          <a:xfrm>
            <a:off x="396835" y="2284690"/>
            <a:ext cx="4380667" cy="362903"/>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Lora"/>
              <a:buNone/>
            </a:pPr>
            <a:r>
              <a:rPr b="0" i="0" lang="en-US" sz="850" u="none" cap="none" strike="noStrike">
                <a:solidFill>
                  <a:srgbClr val="2C2821"/>
                </a:solidFill>
                <a:latin typeface="Lora"/>
                <a:ea typeface="Lora"/>
                <a:cs typeface="Lora"/>
                <a:sym typeface="Lora"/>
              </a:rPr>
              <a:t>Normalized relational structure supports complex queries and maintains referential integrity.</a:t>
            </a:r>
            <a:endParaRPr b="0" i="0" sz="850" u="none" cap="none" strike="noStrike"/>
          </a:p>
        </p:txBody>
      </p:sp>
      <p:sp>
        <p:nvSpPr>
          <p:cNvPr id="195" name="Google Shape;195;p19"/>
          <p:cNvSpPr/>
          <p:nvPr/>
        </p:nvSpPr>
        <p:spPr>
          <a:xfrm>
            <a:off x="5061823" y="949523"/>
            <a:ext cx="1701165" cy="212646"/>
          </a:xfrm>
          <a:prstGeom prst="rect">
            <a:avLst/>
          </a:prstGeom>
          <a:noFill/>
          <a:ln>
            <a:noFill/>
          </a:ln>
        </p:spPr>
        <p:txBody>
          <a:bodyPr anchorCtr="0" anchor="t" bIns="0" lIns="0" spcFirstLastPara="1" rIns="0" wrap="square" tIns="0">
            <a:noAutofit/>
          </a:bodyPr>
          <a:lstStyle/>
          <a:p>
            <a:pPr indent="0" lvl="0" marL="0" marR="0" rtl="0" algn="l">
              <a:lnSpc>
                <a:spcPct val="126923"/>
              </a:lnSpc>
              <a:spcBef>
                <a:spcPts val="0"/>
              </a:spcBef>
              <a:spcAft>
                <a:spcPts val="0"/>
              </a:spcAft>
              <a:buClr>
                <a:srgbClr val="233E32"/>
              </a:buClr>
              <a:buSzPts val="1300"/>
              <a:buFont typeface="Alice"/>
              <a:buNone/>
            </a:pPr>
            <a:r>
              <a:rPr b="0" i="0" lang="en-US" sz="1300" u="none" cap="none" strike="noStrike">
                <a:solidFill>
                  <a:srgbClr val="233E32"/>
                </a:solidFill>
                <a:latin typeface="Alice"/>
                <a:ea typeface="Alice"/>
                <a:cs typeface="Alice"/>
                <a:sym typeface="Alice"/>
              </a:rPr>
              <a:t>Cassandra Schema</a:t>
            </a:r>
            <a:endParaRPr b="0" i="0" sz="1300" u="none" cap="none" strike="noStrike"/>
          </a:p>
        </p:txBody>
      </p:sp>
      <p:sp>
        <p:nvSpPr>
          <p:cNvPr id="196" name="Google Shape;196;p19"/>
          <p:cNvSpPr/>
          <p:nvPr/>
        </p:nvSpPr>
        <p:spPr>
          <a:xfrm>
            <a:off x="5061823" y="1275517"/>
            <a:ext cx="4521756" cy="181451"/>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Lora"/>
              <a:buNone/>
            </a:pPr>
            <a:r>
              <a:rPr b="1" i="0" lang="en-US" sz="850" u="none" cap="none" strike="noStrike">
                <a:solidFill>
                  <a:srgbClr val="2C2821"/>
                </a:solidFill>
                <a:latin typeface="Lora"/>
                <a:ea typeface="Lora"/>
                <a:cs typeface="Lora"/>
                <a:sym typeface="Lora"/>
              </a:rPr>
              <a:t>Time-Series Table:</a:t>
            </a:r>
            <a:endParaRPr b="0" i="0" sz="850" u="none" cap="none" strike="noStrike"/>
          </a:p>
        </p:txBody>
      </p:sp>
      <p:sp>
        <p:nvSpPr>
          <p:cNvPr id="197" name="Google Shape;197;p19"/>
          <p:cNvSpPr/>
          <p:nvPr/>
        </p:nvSpPr>
        <p:spPr>
          <a:xfrm>
            <a:off x="5061823" y="1559004"/>
            <a:ext cx="4521756" cy="181451"/>
          </a:xfrm>
          <a:prstGeom prst="rect">
            <a:avLst/>
          </a:prstGeom>
          <a:noFill/>
          <a:ln>
            <a:noFill/>
          </a:ln>
        </p:spPr>
        <p:txBody>
          <a:bodyPr anchorCtr="0" anchor="t" bIns="0" lIns="0" spcFirstLastPara="1" rIns="0" wrap="square" tIns="0">
            <a:noAutofit/>
          </a:bodyPr>
          <a:lstStyle/>
          <a:p>
            <a:pPr indent="-342900" lvl="0" marL="342900" marR="0" rtl="0" algn="l">
              <a:lnSpc>
                <a:spcPct val="164705"/>
              </a:lnSpc>
              <a:spcBef>
                <a:spcPts val="0"/>
              </a:spcBef>
              <a:spcAft>
                <a:spcPts val="0"/>
              </a:spcAft>
              <a:buClr>
                <a:srgbClr val="2C2821"/>
              </a:buClr>
              <a:buSzPts val="850"/>
              <a:buFont typeface="Consolas"/>
              <a:buChar char="•"/>
            </a:pPr>
            <a:r>
              <a:rPr b="0" i="0" lang="en-US" sz="850" u="none" cap="none" strike="noStrike">
                <a:solidFill>
                  <a:srgbClr val="2C2821"/>
                </a:solidFill>
                <a:highlight>
                  <a:srgbClr val="EFEEEB"/>
                </a:highlight>
                <a:latin typeface="Consolas"/>
                <a:ea typeface="Consolas"/>
                <a:cs typeface="Consolas"/>
                <a:sym typeface="Consolas"/>
              </a:rPr>
              <a:t>sensor_readings</a:t>
            </a:r>
            <a:endParaRPr b="0" i="0" sz="850" u="none" cap="none" strike="noStrike"/>
          </a:p>
        </p:txBody>
      </p:sp>
      <p:sp>
        <p:nvSpPr>
          <p:cNvPr id="198" name="Google Shape;198;p19"/>
          <p:cNvSpPr/>
          <p:nvPr/>
        </p:nvSpPr>
        <p:spPr>
          <a:xfrm>
            <a:off x="5061823" y="1780103"/>
            <a:ext cx="4521756" cy="181451"/>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Lora"/>
              <a:buNone/>
            </a:pPr>
            <a:r>
              <a:rPr b="0" i="0" lang="en-US" sz="850" u="none" cap="none" strike="noStrike">
                <a:solidFill>
                  <a:srgbClr val="2C2821"/>
                </a:solidFill>
                <a:latin typeface="Lora"/>
                <a:ea typeface="Lora"/>
                <a:cs typeface="Lora"/>
                <a:sym typeface="Lora"/>
              </a:rPr>
              <a:t>Partition key: </a:t>
            </a:r>
            <a:r>
              <a:rPr b="0" i="0" lang="en-US" sz="850" u="none" cap="none" strike="noStrike">
                <a:solidFill>
                  <a:srgbClr val="2C2821"/>
                </a:solidFill>
                <a:highlight>
                  <a:srgbClr val="EFEEEB"/>
                </a:highlight>
                <a:latin typeface="Consolas"/>
                <a:ea typeface="Consolas"/>
                <a:cs typeface="Consolas"/>
                <a:sym typeface="Consolas"/>
              </a:rPr>
              <a:t>station_id</a:t>
            </a:r>
            <a:endParaRPr b="0" i="0" sz="850" u="none" cap="none" strike="noStrike"/>
          </a:p>
        </p:txBody>
      </p:sp>
      <p:sp>
        <p:nvSpPr>
          <p:cNvPr id="199" name="Google Shape;199;p19"/>
          <p:cNvSpPr/>
          <p:nvPr/>
        </p:nvSpPr>
        <p:spPr>
          <a:xfrm>
            <a:off x="5061823" y="2001203"/>
            <a:ext cx="4521756" cy="181451"/>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Lora"/>
              <a:buNone/>
            </a:pPr>
            <a:r>
              <a:rPr b="0" i="0" lang="en-US" sz="850" u="none" cap="none" strike="noStrike">
                <a:solidFill>
                  <a:srgbClr val="2C2821"/>
                </a:solidFill>
                <a:latin typeface="Lora"/>
                <a:ea typeface="Lora"/>
                <a:cs typeface="Lora"/>
                <a:sym typeface="Lora"/>
              </a:rPr>
              <a:t>Clustering key: </a:t>
            </a:r>
            <a:r>
              <a:rPr b="0" i="0" lang="en-US" sz="850" u="none" cap="none" strike="noStrike">
                <a:solidFill>
                  <a:srgbClr val="2C2821"/>
                </a:solidFill>
                <a:highlight>
                  <a:srgbClr val="EFEEEB"/>
                </a:highlight>
                <a:latin typeface="Consolas"/>
                <a:ea typeface="Consolas"/>
                <a:cs typeface="Consolas"/>
                <a:sym typeface="Consolas"/>
              </a:rPr>
              <a:t>timestamp</a:t>
            </a:r>
            <a:r>
              <a:rPr b="0" i="0" lang="en-US" sz="850" u="none" cap="none" strike="noStrike">
                <a:solidFill>
                  <a:srgbClr val="2C2821"/>
                </a:solidFill>
                <a:latin typeface="Lora"/>
                <a:ea typeface="Lora"/>
                <a:cs typeface="Lora"/>
                <a:sym typeface="Lora"/>
              </a:rPr>
              <a:t> (descending)</a:t>
            </a:r>
            <a:endParaRPr b="0" i="0" sz="850" u="none" cap="none" strike="noStrike"/>
          </a:p>
        </p:txBody>
      </p:sp>
      <p:sp>
        <p:nvSpPr>
          <p:cNvPr id="200" name="Google Shape;200;p19"/>
          <p:cNvSpPr/>
          <p:nvPr/>
        </p:nvSpPr>
        <p:spPr>
          <a:xfrm>
            <a:off x="5061823" y="2284690"/>
            <a:ext cx="4521756" cy="362903"/>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Lora"/>
              <a:buNone/>
            </a:pPr>
            <a:r>
              <a:rPr b="0" i="0" lang="en-US" sz="850" u="none" cap="none" strike="noStrike">
                <a:solidFill>
                  <a:srgbClr val="2C2821"/>
                </a:solidFill>
                <a:latin typeface="Lora"/>
                <a:ea typeface="Lora"/>
                <a:cs typeface="Lora"/>
                <a:sym typeface="Lora"/>
              </a:rPr>
              <a:t>Optimized for recent data retrieval patterns, supporting dashboard queries with minimal latency.</a:t>
            </a:r>
            <a:endParaRPr b="0" i="0" sz="850" u="none" cap="none" strike="noStrike"/>
          </a:p>
        </p:txBody>
      </p:sp>
      <p:sp>
        <p:nvSpPr>
          <p:cNvPr id="201" name="Google Shape;201;p19"/>
          <p:cNvSpPr/>
          <p:nvPr/>
        </p:nvSpPr>
        <p:spPr>
          <a:xfrm>
            <a:off x="9867900" y="949523"/>
            <a:ext cx="1701165" cy="212646"/>
          </a:xfrm>
          <a:prstGeom prst="rect">
            <a:avLst/>
          </a:prstGeom>
          <a:noFill/>
          <a:ln>
            <a:noFill/>
          </a:ln>
        </p:spPr>
        <p:txBody>
          <a:bodyPr anchorCtr="0" anchor="t" bIns="0" lIns="0" spcFirstLastPara="1" rIns="0" wrap="square" tIns="0">
            <a:noAutofit/>
          </a:bodyPr>
          <a:lstStyle/>
          <a:p>
            <a:pPr indent="0" lvl="0" marL="0" marR="0" rtl="0" algn="l">
              <a:lnSpc>
                <a:spcPct val="126923"/>
              </a:lnSpc>
              <a:spcBef>
                <a:spcPts val="0"/>
              </a:spcBef>
              <a:spcAft>
                <a:spcPts val="0"/>
              </a:spcAft>
              <a:buClr>
                <a:srgbClr val="233E32"/>
              </a:buClr>
              <a:buSzPts val="1300"/>
              <a:buFont typeface="Alice"/>
              <a:buNone/>
            </a:pPr>
            <a:r>
              <a:rPr b="0" i="0" lang="en-US" sz="1300" u="none" cap="none" strike="noStrike">
                <a:solidFill>
                  <a:srgbClr val="233E32"/>
                </a:solidFill>
                <a:latin typeface="Alice"/>
                <a:ea typeface="Alice"/>
                <a:cs typeface="Alice"/>
                <a:sym typeface="Alice"/>
              </a:rPr>
              <a:t>Protobuf Schema</a:t>
            </a:r>
            <a:endParaRPr b="0" i="0" sz="1300" u="none" cap="none" strike="noStrike"/>
          </a:p>
        </p:txBody>
      </p:sp>
      <p:sp>
        <p:nvSpPr>
          <p:cNvPr id="202" name="Google Shape;202;p19"/>
          <p:cNvSpPr/>
          <p:nvPr/>
        </p:nvSpPr>
        <p:spPr>
          <a:xfrm>
            <a:off x="9867900" y="1275517"/>
            <a:ext cx="4380667" cy="181451"/>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Lora"/>
              <a:buNone/>
            </a:pPr>
            <a:r>
              <a:rPr b="1" i="0" lang="en-US" sz="850" u="none" cap="none" strike="noStrike">
                <a:solidFill>
                  <a:srgbClr val="2C2821"/>
                </a:solidFill>
                <a:latin typeface="Lora"/>
                <a:ea typeface="Lora"/>
                <a:cs typeface="Lora"/>
                <a:sym typeface="Lora"/>
              </a:rPr>
              <a:t>Analytics Storage:</a:t>
            </a:r>
            <a:endParaRPr b="0" i="0" sz="850" u="none" cap="none" strike="noStrike"/>
          </a:p>
        </p:txBody>
      </p:sp>
      <p:sp>
        <p:nvSpPr>
          <p:cNvPr id="203" name="Google Shape;203;p19"/>
          <p:cNvSpPr/>
          <p:nvPr/>
        </p:nvSpPr>
        <p:spPr>
          <a:xfrm>
            <a:off x="9867900" y="1559004"/>
            <a:ext cx="4380667" cy="181451"/>
          </a:xfrm>
          <a:prstGeom prst="rect">
            <a:avLst/>
          </a:prstGeom>
          <a:noFill/>
          <a:ln>
            <a:noFill/>
          </a:ln>
        </p:spPr>
        <p:txBody>
          <a:bodyPr anchorCtr="0" anchor="t" bIns="0" lIns="0" spcFirstLastPara="1" rIns="0" wrap="square" tIns="0">
            <a:noAutofit/>
          </a:bodyPr>
          <a:lstStyle/>
          <a:p>
            <a:pPr indent="-342900" lvl="0" marL="342900" marR="0" rtl="0" algn="l">
              <a:lnSpc>
                <a:spcPct val="164705"/>
              </a:lnSpc>
              <a:spcBef>
                <a:spcPts val="0"/>
              </a:spcBef>
              <a:spcAft>
                <a:spcPts val="0"/>
              </a:spcAft>
              <a:buClr>
                <a:srgbClr val="2C2821"/>
              </a:buClr>
              <a:buSzPts val="850"/>
              <a:buFont typeface="Lora"/>
              <a:buChar char="•"/>
            </a:pPr>
            <a:r>
              <a:rPr b="0" i="0" lang="en-US" sz="850" u="none" cap="none" strike="noStrike">
                <a:solidFill>
                  <a:srgbClr val="2C2821"/>
                </a:solidFill>
                <a:latin typeface="Lora"/>
                <a:ea typeface="Lora"/>
                <a:cs typeface="Lora"/>
                <a:sym typeface="Lora"/>
              </a:rPr>
              <a:t>Strongly-typed message definitions</a:t>
            </a:r>
            <a:endParaRPr b="0" i="0" sz="850" u="none" cap="none" strike="noStrike"/>
          </a:p>
        </p:txBody>
      </p:sp>
      <p:sp>
        <p:nvSpPr>
          <p:cNvPr id="204" name="Google Shape;204;p19"/>
          <p:cNvSpPr/>
          <p:nvPr/>
        </p:nvSpPr>
        <p:spPr>
          <a:xfrm>
            <a:off x="9867900" y="1780103"/>
            <a:ext cx="4380667" cy="181451"/>
          </a:xfrm>
          <a:prstGeom prst="rect">
            <a:avLst/>
          </a:prstGeom>
          <a:noFill/>
          <a:ln>
            <a:noFill/>
          </a:ln>
        </p:spPr>
        <p:txBody>
          <a:bodyPr anchorCtr="0" anchor="t" bIns="0" lIns="0" spcFirstLastPara="1" rIns="0" wrap="square" tIns="0">
            <a:noAutofit/>
          </a:bodyPr>
          <a:lstStyle/>
          <a:p>
            <a:pPr indent="-342900" lvl="0" marL="342900" marR="0" rtl="0" algn="l">
              <a:lnSpc>
                <a:spcPct val="164705"/>
              </a:lnSpc>
              <a:spcBef>
                <a:spcPts val="0"/>
              </a:spcBef>
              <a:spcAft>
                <a:spcPts val="0"/>
              </a:spcAft>
              <a:buClr>
                <a:srgbClr val="2C2821"/>
              </a:buClr>
              <a:buSzPts val="850"/>
              <a:buFont typeface="Lora"/>
              <a:buChar char="•"/>
            </a:pPr>
            <a:r>
              <a:rPr b="0" i="0" lang="en-US" sz="850" u="none" cap="none" strike="noStrike">
                <a:solidFill>
                  <a:srgbClr val="2C2821"/>
                </a:solidFill>
                <a:latin typeface="Lora"/>
                <a:ea typeface="Lora"/>
                <a:cs typeface="Lora"/>
                <a:sym typeface="Lora"/>
              </a:rPr>
              <a:t>Efficient serialization</a:t>
            </a:r>
            <a:endParaRPr b="0" i="0" sz="850" u="none" cap="none" strike="noStrike"/>
          </a:p>
        </p:txBody>
      </p:sp>
      <p:sp>
        <p:nvSpPr>
          <p:cNvPr id="205" name="Google Shape;205;p19"/>
          <p:cNvSpPr/>
          <p:nvPr/>
        </p:nvSpPr>
        <p:spPr>
          <a:xfrm>
            <a:off x="9867900" y="2001203"/>
            <a:ext cx="4380667" cy="181451"/>
          </a:xfrm>
          <a:prstGeom prst="rect">
            <a:avLst/>
          </a:prstGeom>
          <a:noFill/>
          <a:ln>
            <a:noFill/>
          </a:ln>
        </p:spPr>
        <p:txBody>
          <a:bodyPr anchorCtr="0" anchor="t" bIns="0" lIns="0" spcFirstLastPara="1" rIns="0" wrap="square" tIns="0">
            <a:noAutofit/>
          </a:bodyPr>
          <a:lstStyle/>
          <a:p>
            <a:pPr indent="-342900" lvl="0" marL="342900" marR="0" rtl="0" algn="l">
              <a:lnSpc>
                <a:spcPct val="164705"/>
              </a:lnSpc>
              <a:spcBef>
                <a:spcPts val="0"/>
              </a:spcBef>
              <a:spcAft>
                <a:spcPts val="0"/>
              </a:spcAft>
              <a:buClr>
                <a:srgbClr val="2C2821"/>
              </a:buClr>
              <a:buSzPts val="850"/>
              <a:buFont typeface="Lora"/>
              <a:buChar char="•"/>
            </a:pPr>
            <a:r>
              <a:rPr b="0" i="0" lang="en-US" sz="850" u="none" cap="none" strike="noStrike">
                <a:solidFill>
                  <a:srgbClr val="2C2821"/>
                </a:solidFill>
                <a:latin typeface="Lora"/>
                <a:ea typeface="Lora"/>
                <a:cs typeface="Lora"/>
                <a:sym typeface="Lora"/>
              </a:rPr>
              <a:t>Schema versioning support</a:t>
            </a:r>
            <a:endParaRPr b="0" i="0" sz="850" u="none" cap="none" strike="noStrike"/>
          </a:p>
        </p:txBody>
      </p:sp>
      <p:sp>
        <p:nvSpPr>
          <p:cNvPr id="206" name="Google Shape;206;p19"/>
          <p:cNvSpPr/>
          <p:nvPr/>
        </p:nvSpPr>
        <p:spPr>
          <a:xfrm>
            <a:off x="9867900" y="2284690"/>
            <a:ext cx="4380667" cy="362903"/>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2C2821"/>
              </a:buClr>
              <a:buSzPts val="850"/>
              <a:buFont typeface="Lora"/>
              <a:buNone/>
            </a:pPr>
            <a:r>
              <a:rPr b="0" i="0" lang="en-US" sz="850" u="none" cap="none" strike="noStrike">
                <a:solidFill>
                  <a:srgbClr val="2C2821"/>
                </a:solidFill>
                <a:latin typeface="Lora"/>
                <a:ea typeface="Lora"/>
                <a:cs typeface="Lora"/>
                <a:sym typeface="Lora"/>
              </a:rPr>
              <a:t>Stored in S3 with partitioning by date and station for efficient batch processing scans.</a:t>
            </a:r>
            <a:endParaRPr b="0" i="0" sz="850" u="none" cap="none" strike="noStrike"/>
          </a:p>
        </p:txBody>
      </p:sp>
      <p:sp>
        <p:nvSpPr>
          <p:cNvPr id="207" name="Google Shape;207;p19"/>
          <p:cNvSpPr/>
          <p:nvPr/>
        </p:nvSpPr>
        <p:spPr>
          <a:xfrm>
            <a:off x="5758579" y="4498626"/>
            <a:ext cx="3113243" cy="389156"/>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1800"/>
              <a:buFont typeface="Alice"/>
              <a:buNone/>
            </a:pPr>
            <a:r>
              <a:rPr b="0" i="0" lang="en-US" sz="1800" u="none" cap="none" strike="noStrike">
                <a:solidFill>
                  <a:srgbClr val="FFFFFF"/>
                </a:solidFill>
                <a:latin typeface="Alice"/>
                <a:ea typeface="Alice"/>
                <a:cs typeface="Alice"/>
                <a:sym typeface="Alice"/>
              </a:rPr>
              <a:t>S3 Protobuf Files</a:t>
            </a:r>
            <a:endParaRPr b="0" i="0" sz="1800" u="none" cap="none" strike="noStrike"/>
          </a:p>
        </p:txBody>
      </p:sp>
      <p:sp>
        <p:nvSpPr>
          <p:cNvPr id="208" name="Google Shape;208;p19"/>
          <p:cNvSpPr/>
          <p:nvPr/>
        </p:nvSpPr>
        <p:spPr>
          <a:xfrm>
            <a:off x="2645335" y="9946801"/>
            <a:ext cx="3113243" cy="389156"/>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1800"/>
              <a:buFont typeface="Alice"/>
              <a:buNone/>
            </a:pPr>
            <a:r>
              <a:rPr b="0" i="0" lang="en-US" sz="1800" u="none" cap="none" strike="noStrike">
                <a:solidFill>
                  <a:srgbClr val="FFFFFF"/>
                </a:solidFill>
                <a:latin typeface="Alice"/>
                <a:ea typeface="Alice"/>
                <a:cs typeface="Alice"/>
                <a:sym typeface="Alice"/>
              </a:rPr>
              <a:t>MySQL Stations</a:t>
            </a:r>
            <a:endParaRPr b="0" i="0" sz="1800" u="none" cap="none" strike="noStrike"/>
          </a:p>
        </p:txBody>
      </p:sp>
      <p:sp>
        <p:nvSpPr>
          <p:cNvPr id="209" name="Google Shape;209;p19"/>
          <p:cNvSpPr/>
          <p:nvPr/>
        </p:nvSpPr>
        <p:spPr>
          <a:xfrm>
            <a:off x="8674650" y="9752224"/>
            <a:ext cx="3507587" cy="7783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1800"/>
              <a:buFont typeface="Alice"/>
              <a:buNone/>
            </a:pPr>
            <a:r>
              <a:rPr b="0" i="0" lang="en-US" sz="1800" u="none" cap="none" strike="noStrike">
                <a:solidFill>
                  <a:srgbClr val="FFFFFF"/>
                </a:solidFill>
                <a:latin typeface="Alice"/>
                <a:ea typeface="Alice"/>
                <a:cs typeface="Alice"/>
                <a:sym typeface="Alice"/>
              </a:rPr>
              <a:t>Cassandra Sensor Readings</a:t>
            </a:r>
            <a:endParaRPr b="0" i="0" sz="1800" u="none" cap="none" strike="noStrike"/>
          </a:p>
        </p:txBody>
      </p:sp>
      <p:sp>
        <p:nvSpPr>
          <p:cNvPr id="210" name="Google Shape;210;p19"/>
          <p:cNvSpPr/>
          <p:nvPr/>
        </p:nvSpPr>
        <p:spPr>
          <a:xfrm>
            <a:off x="4393940" y="6574122"/>
            <a:ext cx="2080684" cy="1167466"/>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1800"/>
              <a:buFont typeface="Alice"/>
              <a:buNone/>
            </a:pPr>
            <a:r>
              <a:rPr b="0" i="0" lang="en-US" sz="1800" u="none" cap="none" strike="noStrike">
                <a:solidFill>
                  <a:srgbClr val="FFFFFF"/>
                </a:solidFill>
                <a:latin typeface="Alice"/>
                <a:ea typeface="Alice"/>
                <a:cs typeface="Alice"/>
                <a:sym typeface="Alice"/>
              </a:rPr>
              <a:t>Station Metadata Exports</a:t>
            </a:r>
            <a:endParaRPr b="0" i="0" sz="1800" u="none" cap="none" strike="noStrike"/>
          </a:p>
        </p:txBody>
      </p:sp>
      <p:sp>
        <p:nvSpPr>
          <p:cNvPr id="211" name="Google Shape;211;p19"/>
          <p:cNvSpPr/>
          <p:nvPr/>
        </p:nvSpPr>
        <p:spPr>
          <a:xfrm>
            <a:off x="8155776" y="6768699"/>
            <a:ext cx="2080684" cy="7783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1800"/>
              <a:buFont typeface="Alice"/>
              <a:buNone/>
            </a:pPr>
            <a:r>
              <a:rPr b="0" i="0" lang="en-US" sz="1800" u="none" cap="none" strike="noStrike">
                <a:solidFill>
                  <a:srgbClr val="FFFFFF"/>
                </a:solidFill>
                <a:latin typeface="Alice"/>
                <a:ea typeface="Alice"/>
                <a:cs typeface="Alice"/>
                <a:sym typeface="Alice"/>
              </a:rPr>
              <a:t>Partitioned by Date</a:t>
            </a:r>
            <a:endParaRPr b="0" i="0" sz="1800" u="none" cap="none" strike="noStrike"/>
          </a:p>
        </p:txBody>
      </p:sp>
      <p:sp>
        <p:nvSpPr>
          <p:cNvPr id="212" name="Google Shape;212;p19"/>
          <p:cNvSpPr/>
          <p:nvPr/>
        </p:nvSpPr>
        <p:spPr>
          <a:xfrm>
            <a:off x="6728873" y="9752224"/>
            <a:ext cx="1172654" cy="7783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1800"/>
              <a:buFont typeface="Alice"/>
              <a:buNone/>
            </a:pPr>
            <a:r>
              <a:rPr b="0" i="0" lang="en-US" sz="1800" u="none" cap="none" strike="noStrike">
                <a:solidFill>
                  <a:srgbClr val="FFFFFF"/>
                </a:solidFill>
                <a:latin typeface="Alice"/>
                <a:ea typeface="Alice"/>
                <a:cs typeface="Alice"/>
                <a:sym typeface="Alice"/>
              </a:rPr>
              <a:t>Station ID</a:t>
            </a:r>
            <a:endParaRPr b="0" i="0" sz="1800" u="none" cap="none" strike="noStrike"/>
          </a:p>
        </p:txBody>
      </p:sp>
      <p:sp>
        <p:nvSpPr>
          <p:cNvPr id="213" name="Google Shape;213;p19"/>
          <p:cNvSpPr/>
          <p:nvPr/>
        </p:nvSpPr>
        <p:spPr>
          <a:xfrm>
            <a:off x="6599154" y="7611869"/>
            <a:ext cx="1432092" cy="1167466"/>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1800"/>
              <a:buFont typeface="Alice"/>
              <a:buNone/>
            </a:pPr>
            <a:r>
              <a:rPr b="0" i="0" lang="en-US" sz="1800" u="none" cap="none" strike="noStrike">
                <a:solidFill>
                  <a:srgbClr val="FFFFFF"/>
                </a:solidFill>
                <a:latin typeface="Alice"/>
                <a:ea typeface="Alice"/>
                <a:cs typeface="Alice"/>
                <a:sym typeface="Alice"/>
              </a:rPr>
              <a:t>Time-series by Station</a:t>
            </a:r>
            <a:endParaRPr b="0" i="0" sz="18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0"/>
          <p:cNvSpPr/>
          <p:nvPr/>
        </p:nvSpPr>
        <p:spPr>
          <a:xfrm>
            <a:off x="626745" y="1064181"/>
            <a:ext cx="5891927" cy="559594"/>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33E32"/>
              </a:buClr>
              <a:buSzPts val="3500"/>
              <a:buFont typeface="Alice"/>
              <a:buNone/>
            </a:pPr>
            <a:r>
              <a:rPr b="0" i="0" lang="en-US" sz="3500" u="none" cap="none" strike="noStrike">
                <a:solidFill>
                  <a:srgbClr val="233E32"/>
                </a:solidFill>
                <a:latin typeface="Alice"/>
                <a:ea typeface="Alice"/>
                <a:cs typeface="Alice"/>
                <a:sym typeface="Alice"/>
              </a:rPr>
              <a:t>Pipeline A: Sensor Simulation</a:t>
            </a:r>
            <a:endParaRPr b="0" i="0" sz="3500" u="none" cap="none" strike="noStrike"/>
          </a:p>
        </p:txBody>
      </p:sp>
      <p:pic>
        <p:nvPicPr>
          <p:cNvPr descr="preencoded.png" id="220" name="Google Shape;220;p20"/>
          <p:cNvPicPr preferRelativeResize="0"/>
          <p:nvPr/>
        </p:nvPicPr>
        <p:blipFill rotWithShape="1">
          <a:blip r:embed="rId3">
            <a:alphaModFix/>
          </a:blip>
          <a:srcRect b="0" l="0" r="0" t="0"/>
          <a:stretch/>
        </p:blipFill>
        <p:spPr>
          <a:xfrm>
            <a:off x="626745" y="2071454"/>
            <a:ext cx="895350" cy="1318260"/>
          </a:xfrm>
          <a:prstGeom prst="rect">
            <a:avLst/>
          </a:prstGeom>
          <a:noFill/>
          <a:ln>
            <a:noFill/>
          </a:ln>
        </p:spPr>
      </p:pic>
      <p:sp>
        <p:nvSpPr>
          <p:cNvPr id="221" name="Google Shape;221;p20"/>
          <p:cNvSpPr/>
          <p:nvPr/>
        </p:nvSpPr>
        <p:spPr>
          <a:xfrm>
            <a:off x="1701198" y="2071450"/>
            <a:ext cx="7343100" cy="279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C2821"/>
              </a:buClr>
              <a:buSzPts val="1750"/>
              <a:buFont typeface="Alice"/>
              <a:buNone/>
            </a:pPr>
            <a:r>
              <a:rPr lang="en-US" sz="1750">
                <a:solidFill>
                  <a:srgbClr val="2C2821"/>
                </a:solidFill>
                <a:latin typeface="Alice"/>
                <a:ea typeface="Alice"/>
                <a:cs typeface="Alice"/>
                <a:sym typeface="Alice"/>
              </a:rPr>
              <a:t>Pipeline A — Air Sensor Simulation (Akka → Kafka)</a:t>
            </a:r>
            <a:endParaRPr b="0" i="0" sz="1750" u="none" cap="none" strike="noStrike"/>
          </a:p>
        </p:txBody>
      </p:sp>
      <p:sp>
        <p:nvSpPr>
          <p:cNvPr id="222" name="Google Shape;222;p20"/>
          <p:cNvSpPr/>
          <p:nvPr/>
        </p:nvSpPr>
        <p:spPr>
          <a:xfrm>
            <a:off x="1701175" y="2458650"/>
            <a:ext cx="7401900" cy="1052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Pipeline A simulates thousands of air quality sensors using Akka actors.</a:t>
            </a:r>
            <a:br>
              <a:rPr lang="en-US" sz="1100">
                <a:solidFill>
                  <a:schemeClr val="dk1"/>
                </a:solidFill>
              </a:rPr>
            </a:br>
            <a:r>
              <a:rPr lang="en-US" sz="1100">
                <a:solidFill>
                  <a:schemeClr val="dk1"/>
                </a:solidFill>
              </a:rPr>
              <a:t>Each virtual sensor generates PM2.5, PM10, and CO₂ readings every 10 seconds with realistic variations. A small percentage of events include anomaly spikes to mimic real-world pollution incidents.</a:t>
            </a:r>
            <a:br>
              <a:rPr lang="en-US" sz="1100">
                <a:solidFill>
                  <a:schemeClr val="dk1"/>
                </a:solidFill>
              </a:rPr>
            </a:br>
            <a:r>
              <a:rPr lang="en-US" sz="1100">
                <a:solidFill>
                  <a:schemeClr val="dk1"/>
                </a:solidFill>
              </a:rPr>
              <a:t>All sensor readings are encoded as JSON and published to the Kafka topic </a:t>
            </a:r>
            <a:r>
              <a:rPr lang="en-US" sz="1100">
                <a:solidFill>
                  <a:srgbClr val="188038"/>
                </a:solidFill>
                <a:latin typeface="Roboto Mono"/>
                <a:ea typeface="Roboto Mono"/>
                <a:cs typeface="Roboto Mono"/>
                <a:sym typeface="Roboto Mono"/>
              </a:rPr>
              <a:t>air_sensor_readings</a:t>
            </a:r>
            <a:r>
              <a:rPr lang="en-US" sz="1100">
                <a:solidFill>
                  <a:schemeClr val="dk1"/>
                </a:solidFill>
              </a:rPr>
              <a:t> for downstream processing.</a:t>
            </a:r>
            <a:endParaRPr sz="1100">
              <a:solidFill>
                <a:schemeClr val="dk1"/>
              </a:solidFill>
            </a:endParaRPr>
          </a:p>
          <a:p>
            <a:pPr indent="0" lvl="0" marL="0" marR="0" rtl="0" algn="l">
              <a:lnSpc>
                <a:spcPct val="160714"/>
              </a:lnSpc>
              <a:spcBef>
                <a:spcPts val="1200"/>
              </a:spcBef>
              <a:spcAft>
                <a:spcPts val="0"/>
              </a:spcAft>
              <a:buClr>
                <a:srgbClr val="2C2821"/>
              </a:buClr>
              <a:buSzPts val="1400"/>
              <a:buFont typeface="Lora"/>
              <a:buNone/>
            </a:pPr>
            <a:r>
              <a:t/>
            </a:r>
            <a:endParaRPr>
              <a:solidFill>
                <a:srgbClr val="2C2821"/>
              </a:solidFill>
              <a:latin typeface="Lora"/>
              <a:ea typeface="Lora"/>
              <a:cs typeface="Lora"/>
              <a:sym typeface="Lora"/>
            </a:endParaRPr>
          </a:p>
        </p:txBody>
      </p:sp>
      <p:pic>
        <p:nvPicPr>
          <p:cNvPr id="223" name="Google Shape;223;p20"/>
          <p:cNvPicPr preferRelativeResize="0"/>
          <p:nvPr/>
        </p:nvPicPr>
        <p:blipFill>
          <a:blip r:embed="rId4">
            <a:alphaModFix/>
          </a:blip>
          <a:stretch>
            <a:fillRect/>
          </a:stretch>
        </p:blipFill>
        <p:spPr>
          <a:xfrm>
            <a:off x="626750" y="5143500"/>
            <a:ext cx="13224074" cy="1077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1"/>
          <p:cNvSpPr/>
          <p:nvPr/>
        </p:nvSpPr>
        <p:spPr>
          <a:xfrm>
            <a:off x="594122" y="1276112"/>
            <a:ext cx="7617738" cy="530543"/>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233E32"/>
              </a:buClr>
              <a:buSzPts val="3300"/>
              <a:buFont typeface="Alice"/>
              <a:buNone/>
            </a:pPr>
            <a:r>
              <a:rPr b="0" i="0" lang="en-US" sz="3300" u="none" cap="none" strike="noStrike">
                <a:solidFill>
                  <a:srgbClr val="233E32"/>
                </a:solidFill>
                <a:latin typeface="Alice"/>
                <a:ea typeface="Alice"/>
                <a:cs typeface="Alice"/>
                <a:sym typeface="Alice"/>
              </a:rPr>
              <a:t>Pipeline B: Real-Time Stream Processing</a:t>
            </a:r>
            <a:endParaRPr b="0" i="0" sz="3300" u="none" cap="none" strike="noStrike"/>
          </a:p>
        </p:txBody>
      </p:sp>
      <p:sp>
        <p:nvSpPr>
          <p:cNvPr id="230" name="Google Shape;230;p21"/>
          <p:cNvSpPr/>
          <p:nvPr/>
        </p:nvSpPr>
        <p:spPr>
          <a:xfrm>
            <a:off x="953214" y="2240756"/>
            <a:ext cx="509230" cy="22860"/>
          </a:xfrm>
          <a:prstGeom prst="roundRect">
            <a:avLst>
              <a:gd fmla="val 111396"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1"/>
          <p:cNvSpPr/>
          <p:nvPr/>
        </p:nvSpPr>
        <p:spPr>
          <a:xfrm>
            <a:off x="594122" y="2061210"/>
            <a:ext cx="381953" cy="381952"/>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1"/>
          <p:cNvSpPr/>
          <p:nvPr/>
        </p:nvSpPr>
        <p:spPr>
          <a:xfrm>
            <a:off x="657820" y="2093059"/>
            <a:ext cx="254556" cy="31825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000"/>
              <a:buFont typeface="Alice"/>
              <a:buNone/>
            </a:pPr>
            <a:r>
              <a:rPr lang="en-US" sz="2000">
                <a:solidFill>
                  <a:srgbClr val="2C2821"/>
                </a:solidFill>
                <a:latin typeface="Alice"/>
                <a:ea typeface="Alice"/>
                <a:cs typeface="Alice"/>
                <a:sym typeface="Alice"/>
              </a:rPr>
              <a:t>B</a:t>
            </a:r>
            <a:endParaRPr b="0" i="0" sz="2000" u="none" cap="none" strike="noStrike"/>
          </a:p>
        </p:txBody>
      </p:sp>
      <p:sp>
        <p:nvSpPr>
          <p:cNvPr id="233" name="Google Shape;233;p21"/>
          <p:cNvSpPr/>
          <p:nvPr/>
        </p:nvSpPr>
        <p:spPr>
          <a:xfrm>
            <a:off x="1633895" y="2119551"/>
            <a:ext cx="2122051" cy="265152"/>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C2821"/>
              </a:buClr>
              <a:buSzPts val="1650"/>
              <a:buFont typeface="Alice"/>
              <a:buNone/>
            </a:pPr>
            <a:r>
              <a:rPr b="0" i="0" lang="en-US" sz="1650" u="none" cap="none" strike="noStrike">
                <a:solidFill>
                  <a:srgbClr val="2C2821"/>
                </a:solidFill>
                <a:latin typeface="Alice"/>
                <a:ea typeface="Alice"/>
                <a:cs typeface="Alice"/>
                <a:sym typeface="Alice"/>
              </a:rPr>
              <a:t>Kafka Consumption</a:t>
            </a:r>
            <a:endParaRPr b="0" i="0" sz="1650" u="none" cap="none" strike="noStrike"/>
          </a:p>
        </p:txBody>
      </p:sp>
      <p:sp>
        <p:nvSpPr>
          <p:cNvPr id="234" name="Google Shape;234;p21"/>
          <p:cNvSpPr/>
          <p:nvPr/>
        </p:nvSpPr>
        <p:spPr>
          <a:xfrm>
            <a:off x="1633900" y="2486500"/>
            <a:ext cx="11337600" cy="140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Pipeline B processes real-time air sensor events from Kafka using Spark Structured Streaming.</a:t>
            </a:r>
            <a:endParaRPr/>
          </a:p>
          <a:p>
            <a:pPr indent="0" lvl="0" marL="0" rtl="0" algn="l">
              <a:spcBef>
                <a:spcPts val="0"/>
              </a:spcBef>
              <a:spcAft>
                <a:spcPts val="0"/>
              </a:spcAft>
              <a:buNone/>
            </a:pPr>
            <a:r>
              <a:rPr lang="en-US"/>
              <a:t>Incoming JSON messages are parsed, validated, and enriched with processing timestamps.</a:t>
            </a:r>
            <a:endParaRPr/>
          </a:p>
          <a:p>
            <a:pPr indent="0" lvl="0" marL="0" rtl="0" algn="l">
              <a:spcBef>
                <a:spcPts val="0"/>
              </a:spcBef>
              <a:spcAft>
                <a:spcPts val="0"/>
              </a:spcAft>
              <a:buNone/>
            </a:pPr>
            <a:r>
              <a:rPr lang="en-US"/>
              <a:t>Sensor readings are compared against zone-specific thresholds stored in MySQL to detect pollution anomalies.</a:t>
            </a:r>
            <a:endParaRPr/>
          </a:p>
          <a:p>
            <a:pPr indent="0" lvl="0" marL="0" rtl="0" algn="l">
              <a:lnSpc>
                <a:spcPct val="115000"/>
              </a:lnSpc>
              <a:spcBef>
                <a:spcPts val="1200"/>
              </a:spcBef>
              <a:spcAft>
                <a:spcPts val="0"/>
              </a:spcAft>
              <a:buNone/>
            </a:pPr>
            <a:r>
              <a:rPr lang="en-US"/>
              <a:t>Recent readings are written to Cassandra for fast dashboard access, while the full enriched event stream is stored as Protobuf files in S3 for long-term analytics.</a:t>
            </a:r>
            <a:endParaRPr/>
          </a:p>
          <a:p>
            <a:pPr indent="0" lvl="0" marL="0" rtl="0" algn="l">
              <a:spcBef>
                <a:spcPts val="1200"/>
              </a:spcBef>
              <a:spcAft>
                <a:spcPts val="0"/>
              </a:spcAft>
              <a:buClr>
                <a:schemeClr val="dk1"/>
              </a:buClr>
              <a:buSzPts val="1100"/>
              <a:buFont typeface="Arial"/>
              <a:buNone/>
            </a:pPr>
            <a:r>
              <a:t/>
            </a:r>
            <a:endParaRPr/>
          </a:p>
        </p:txBody>
      </p:sp>
      <p:sp>
        <p:nvSpPr>
          <p:cNvPr id="235" name="Google Shape;235;p21"/>
          <p:cNvSpPr/>
          <p:nvPr/>
        </p:nvSpPr>
        <p:spPr>
          <a:xfrm>
            <a:off x="1633895" y="3427452"/>
            <a:ext cx="2367201" cy="265152"/>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C2821"/>
              </a:buClr>
              <a:buSzPts val="1650"/>
              <a:buFont typeface="Alice"/>
              <a:buNone/>
            </a:pPr>
            <a:r>
              <a:t/>
            </a:r>
            <a:endParaRPr b="0" i="0" sz="1650" u="none" cap="none" strike="noStrike"/>
          </a:p>
        </p:txBody>
      </p:sp>
      <p:pic>
        <p:nvPicPr>
          <p:cNvPr id="236" name="Google Shape;236;p21"/>
          <p:cNvPicPr preferRelativeResize="0"/>
          <p:nvPr/>
        </p:nvPicPr>
        <p:blipFill>
          <a:blip r:embed="rId3">
            <a:alphaModFix/>
          </a:blip>
          <a:stretch>
            <a:fillRect/>
          </a:stretch>
        </p:blipFill>
        <p:spPr>
          <a:xfrm>
            <a:off x="139900" y="4735350"/>
            <a:ext cx="14325601" cy="19305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p:nvPr/>
        </p:nvSpPr>
        <p:spPr>
          <a:xfrm>
            <a:off x="413980" y="325279"/>
            <a:ext cx="4802267" cy="369689"/>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33E32"/>
              </a:buClr>
              <a:buSzPts val="2300"/>
              <a:buFont typeface="Alice"/>
              <a:buNone/>
            </a:pPr>
            <a:r>
              <a:rPr b="0" i="0" lang="en-US" sz="2300" u="none" cap="none" strike="noStrike">
                <a:solidFill>
                  <a:srgbClr val="233E32"/>
                </a:solidFill>
                <a:latin typeface="Alice"/>
                <a:ea typeface="Alice"/>
                <a:cs typeface="Alice"/>
                <a:sym typeface="Alice"/>
              </a:rPr>
              <a:t>Pipeline C: Daily Pollution Summary</a:t>
            </a:r>
            <a:endParaRPr b="0" i="0" sz="2300" u="none" cap="none" strike="noStrike"/>
          </a:p>
        </p:txBody>
      </p:sp>
      <p:sp>
        <p:nvSpPr>
          <p:cNvPr id="243" name="Google Shape;243;p22"/>
          <p:cNvSpPr/>
          <p:nvPr/>
        </p:nvSpPr>
        <p:spPr>
          <a:xfrm>
            <a:off x="591383" y="1404580"/>
            <a:ext cx="4344472" cy="118229"/>
          </a:xfrm>
          <a:prstGeom prst="roundRect">
            <a:avLst>
              <a:gd fmla="val 15008"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2"/>
          <p:cNvSpPr/>
          <p:nvPr/>
        </p:nvSpPr>
        <p:spPr>
          <a:xfrm>
            <a:off x="413980" y="1286351"/>
            <a:ext cx="354806" cy="354806"/>
          </a:xfrm>
          <a:prstGeom prst="roundRect">
            <a:avLst>
              <a:gd fmla="val 128859"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5" name="Google Shape;245;p22"/>
          <p:cNvPicPr preferRelativeResize="0"/>
          <p:nvPr/>
        </p:nvPicPr>
        <p:blipFill rotWithShape="1">
          <a:blip r:embed="rId3">
            <a:alphaModFix/>
          </a:blip>
          <a:srcRect b="0" l="0" r="0" t="0"/>
          <a:stretch/>
        </p:blipFill>
        <p:spPr>
          <a:xfrm>
            <a:off x="502682" y="1375053"/>
            <a:ext cx="177403" cy="177403"/>
          </a:xfrm>
          <a:prstGeom prst="rect">
            <a:avLst/>
          </a:prstGeom>
          <a:noFill/>
          <a:ln>
            <a:noFill/>
          </a:ln>
        </p:spPr>
      </p:pic>
      <p:sp>
        <p:nvSpPr>
          <p:cNvPr id="246" name="Google Shape;246;p22"/>
          <p:cNvSpPr/>
          <p:nvPr/>
        </p:nvSpPr>
        <p:spPr>
          <a:xfrm>
            <a:off x="532209" y="1759387"/>
            <a:ext cx="1478637" cy="184785"/>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C2821"/>
              </a:buClr>
              <a:buSzPts val="1150"/>
              <a:buFont typeface="Alice"/>
              <a:buNone/>
            </a:pPr>
            <a:r>
              <a:rPr b="0" i="0" lang="en-US" sz="1150" u="none" cap="none" strike="noStrike">
                <a:solidFill>
                  <a:srgbClr val="2C2821"/>
                </a:solidFill>
                <a:latin typeface="Alice"/>
                <a:ea typeface="Alice"/>
                <a:cs typeface="Alice"/>
                <a:sym typeface="Alice"/>
              </a:rPr>
              <a:t>S3 Data Retrieval</a:t>
            </a:r>
            <a:endParaRPr b="0" i="0" sz="1150" u="none" cap="none" strike="noStrike"/>
          </a:p>
        </p:txBody>
      </p:sp>
      <p:sp>
        <p:nvSpPr>
          <p:cNvPr id="247" name="Google Shape;247;p22"/>
          <p:cNvSpPr/>
          <p:nvPr/>
        </p:nvSpPr>
        <p:spPr>
          <a:xfrm>
            <a:off x="532200" y="2015125"/>
            <a:ext cx="8629500" cy="1097400"/>
          </a:xfrm>
          <a:prstGeom prst="rect">
            <a:avLst/>
          </a:prstGeom>
          <a:noFill/>
          <a:ln>
            <a:noFill/>
          </a:ln>
        </p:spPr>
        <p:txBody>
          <a:bodyPr anchorCtr="0" anchor="t" bIns="0" lIns="0" spcFirstLastPara="1" rIns="0" wrap="square" tIns="0">
            <a:noAutofit/>
          </a:bodyPr>
          <a:lstStyle/>
          <a:p>
            <a:pPr indent="0" lvl="0" marL="0" rtl="0" algn="l">
              <a:lnSpc>
                <a:spcPct val="161111"/>
              </a:lnSpc>
              <a:spcBef>
                <a:spcPts val="0"/>
              </a:spcBef>
              <a:spcAft>
                <a:spcPts val="0"/>
              </a:spcAft>
              <a:buClr>
                <a:schemeClr val="dk1"/>
              </a:buClr>
              <a:buSzPts val="1100"/>
              <a:buFont typeface="Arial"/>
              <a:buNone/>
            </a:pPr>
            <a:r>
              <a:rPr lang="en-US" sz="1100">
                <a:solidFill>
                  <a:schemeClr val="dk1"/>
                </a:solidFill>
              </a:rPr>
              <a:t>Pipeline C is a daily batch job that generates zone-wise pollution summaries.</a:t>
            </a:r>
            <a:endParaRPr sz="1100">
              <a:solidFill>
                <a:schemeClr val="dk1"/>
              </a:solidFill>
            </a:endParaRPr>
          </a:p>
          <a:p>
            <a:pPr indent="0" lvl="0" marL="0" rtl="0" algn="l">
              <a:lnSpc>
                <a:spcPct val="161111"/>
              </a:lnSpc>
              <a:spcBef>
                <a:spcPts val="0"/>
              </a:spcBef>
              <a:spcAft>
                <a:spcPts val="0"/>
              </a:spcAft>
              <a:buClr>
                <a:schemeClr val="dk1"/>
              </a:buClr>
              <a:buSzPts val="1100"/>
              <a:buFont typeface="Arial"/>
              <a:buNone/>
            </a:pPr>
            <a:r>
              <a:rPr lang="en-US" sz="1100">
                <a:solidFill>
                  <a:schemeClr val="dk1"/>
                </a:solidFill>
              </a:rPr>
              <a:t>It reads all Protobuf sensor readings for the day from S3, joins them with zone and threshold data from MySQL, and computes average PM2.5, PM10, CO₂ levels along with anomaly counts.</a:t>
            </a:r>
            <a:endParaRPr sz="1100">
              <a:solidFill>
                <a:schemeClr val="dk1"/>
              </a:solidFill>
            </a:endParaRPr>
          </a:p>
          <a:p>
            <a:pPr indent="0" lvl="0" marL="0" marR="0" rtl="0" algn="l">
              <a:lnSpc>
                <a:spcPct val="161111"/>
              </a:lnSpc>
              <a:spcBef>
                <a:spcPts val="0"/>
              </a:spcBef>
              <a:spcAft>
                <a:spcPts val="0"/>
              </a:spcAft>
              <a:buClr>
                <a:srgbClr val="2C2821"/>
              </a:buClr>
              <a:buSzPts val="900"/>
              <a:buFont typeface="Lora"/>
              <a:buNone/>
            </a:pPr>
            <a:r>
              <a:rPr lang="en-US" sz="1100">
                <a:solidFill>
                  <a:schemeClr val="dk1"/>
                </a:solidFill>
              </a:rPr>
              <a:t>The aggregated results are stored in the </a:t>
            </a:r>
            <a:r>
              <a:rPr lang="en-US" sz="1100">
                <a:solidFill>
                  <a:srgbClr val="188038"/>
                </a:solidFill>
                <a:latin typeface="Roboto Mono"/>
                <a:ea typeface="Roboto Mono"/>
                <a:cs typeface="Roboto Mono"/>
                <a:sym typeface="Roboto Mono"/>
              </a:rPr>
              <a:t>daily_pollution_summary</a:t>
            </a:r>
            <a:r>
              <a:rPr lang="en-US" sz="1100">
                <a:solidFill>
                  <a:schemeClr val="dk1"/>
                </a:solidFill>
              </a:rPr>
              <a:t> table in MySQL for reporting and compliance analysis.</a:t>
            </a:r>
            <a:endParaRPr sz="900">
              <a:solidFill>
                <a:srgbClr val="2C2821"/>
              </a:solidFill>
              <a:latin typeface="Lora"/>
              <a:ea typeface="Lora"/>
              <a:cs typeface="Lora"/>
              <a:sym typeface="Lora"/>
            </a:endParaRPr>
          </a:p>
        </p:txBody>
      </p:sp>
      <p:pic>
        <p:nvPicPr>
          <p:cNvPr id="248" name="Google Shape;248;p22"/>
          <p:cNvPicPr preferRelativeResize="0"/>
          <p:nvPr/>
        </p:nvPicPr>
        <p:blipFill>
          <a:blip r:embed="rId4">
            <a:alphaModFix/>
          </a:blip>
          <a:stretch>
            <a:fillRect/>
          </a:stretch>
        </p:blipFill>
        <p:spPr>
          <a:xfrm>
            <a:off x="532200" y="3707425"/>
            <a:ext cx="13452800" cy="2831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3"/>
          <p:cNvSpPr/>
          <p:nvPr/>
        </p:nvSpPr>
        <p:spPr>
          <a:xfrm>
            <a:off x="793790" y="892612"/>
            <a:ext cx="886587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Pipeline D – Dashboard Aggregates</a:t>
            </a:r>
            <a:endParaRPr b="0" i="0" sz="4450" u="none" cap="none" strike="noStrike"/>
          </a:p>
        </p:txBody>
      </p:sp>
      <p:sp>
        <p:nvSpPr>
          <p:cNvPr id="255" name="Google Shape;255;p23"/>
          <p:cNvSpPr/>
          <p:nvPr/>
        </p:nvSpPr>
        <p:spPr>
          <a:xfrm>
            <a:off x="793800" y="2145625"/>
            <a:ext cx="11826000" cy="1451700"/>
          </a:xfrm>
          <a:prstGeom prst="rect">
            <a:avLst/>
          </a:prstGeom>
          <a:noFill/>
          <a:ln>
            <a:noFill/>
          </a:ln>
        </p:spPr>
        <p:txBody>
          <a:bodyPr anchorCtr="0" anchor="t" bIns="0" lIns="0" spcFirstLastPara="1" rIns="0" wrap="square" tIns="0">
            <a:noAutofit/>
          </a:bodyPr>
          <a:lstStyle/>
          <a:p>
            <a:pPr indent="0" lvl="0" marL="0" rtl="0" algn="l">
              <a:lnSpc>
                <a:spcPct val="162857"/>
              </a:lnSpc>
              <a:spcBef>
                <a:spcPts val="0"/>
              </a:spcBef>
              <a:spcAft>
                <a:spcPts val="0"/>
              </a:spcAft>
              <a:buClr>
                <a:schemeClr val="dk1"/>
              </a:buClr>
              <a:buSzPts val="1100"/>
              <a:buFont typeface="Arial"/>
              <a:buNone/>
            </a:pPr>
            <a:r>
              <a:rPr lang="en-US" sz="1450">
                <a:solidFill>
                  <a:srgbClr val="2C2821"/>
                </a:solidFill>
                <a:latin typeface="Lora"/>
                <a:ea typeface="Lora"/>
                <a:cs typeface="Lora"/>
                <a:sym typeface="Lora"/>
              </a:rPr>
              <a:t>Pipeline D is a batch reporting job that prepares pre-aggregated data for dashboards.</a:t>
            </a:r>
            <a:endParaRPr sz="1450">
              <a:solidFill>
                <a:srgbClr val="2C2821"/>
              </a:solidFill>
              <a:latin typeface="Lora"/>
              <a:ea typeface="Lora"/>
              <a:cs typeface="Lora"/>
              <a:sym typeface="Lora"/>
            </a:endParaRPr>
          </a:p>
          <a:p>
            <a:pPr indent="0" lvl="0" marL="0" rtl="0" algn="l">
              <a:lnSpc>
                <a:spcPct val="162857"/>
              </a:lnSpc>
              <a:spcBef>
                <a:spcPts val="0"/>
              </a:spcBef>
              <a:spcAft>
                <a:spcPts val="0"/>
              </a:spcAft>
              <a:buClr>
                <a:schemeClr val="dk1"/>
              </a:buClr>
              <a:buSzPts val="1100"/>
              <a:buFont typeface="Arial"/>
              <a:buNone/>
            </a:pPr>
            <a:r>
              <a:rPr lang="en-US" sz="1450">
                <a:solidFill>
                  <a:srgbClr val="2C2821"/>
                </a:solidFill>
                <a:latin typeface="Lora"/>
                <a:ea typeface="Lora"/>
                <a:cs typeface="Lora"/>
                <a:sym typeface="Lora"/>
              </a:rPr>
              <a:t>It reads historical Protobuf sensor data from S3 and joins it with zone metadata from MySQL to compute daily averages and anomaly counts.</a:t>
            </a:r>
            <a:endParaRPr sz="1450">
              <a:solidFill>
                <a:srgbClr val="2C2821"/>
              </a:solidFill>
              <a:latin typeface="Lora"/>
              <a:ea typeface="Lora"/>
              <a:cs typeface="Lora"/>
              <a:sym typeface="Lora"/>
            </a:endParaRPr>
          </a:p>
          <a:p>
            <a:pPr indent="0" lvl="0" marL="0" marR="0" rtl="0" algn="l">
              <a:lnSpc>
                <a:spcPct val="162857"/>
              </a:lnSpc>
              <a:spcBef>
                <a:spcPts val="0"/>
              </a:spcBef>
              <a:spcAft>
                <a:spcPts val="0"/>
              </a:spcAft>
              <a:buClr>
                <a:srgbClr val="2C2821"/>
              </a:buClr>
              <a:buSzPts val="1750"/>
              <a:buFont typeface="Lora"/>
              <a:buNone/>
            </a:pPr>
            <a:r>
              <a:rPr lang="en-US" sz="1450">
                <a:solidFill>
                  <a:srgbClr val="2C2821"/>
                </a:solidFill>
                <a:latin typeface="Lora"/>
                <a:ea typeface="Lora"/>
                <a:cs typeface="Lora"/>
                <a:sym typeface="Lora"/>
              </a:rPr>
              <a:t>The results are written as partitioned Protobuf summary tables on S3, which are directly consumed by Play Framework APIs for fast dashboard queries.</a:t>
            </a:r>
            <a:endParaRPr sz="1450">
              <a:solidFill>
                <a:srgbClr val="2C2821"/>
              </a:solidFill>
              <a:latin typeface="Lora"/>
              <a:ea typeface="Lora"/>
              <a:cs typeface="Lora"/>
              <a:sym typeface="Lora"/>
            </a:endParaRPr>
          </a:p>
        </p:txBody>
      </p:sp>
      <p:pic>
        <p:nvPicPr>
          <p:cNvPr id="256" name="Google Shape;256;p23"/>
          <p:cNvPicPr preferRelativeResize="0"/>
          <p:nvPr/>
        </p:nvPicPr>
        <p:blipFill>
          <a:blip r:embed="rId3">
            <a:alphaModFix/>
          </a:blip>
          <a:stretch>
            <a:fillRect/>
          </a:stretch>
        </p:blipFill>
        <p:spPr>
          <a:xfrm>
            <a:off x="152400" y="4013500"/>
            <a:ext cx="14325601" cy="360238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p:nvPr/>
        </p:nvSpPr>
        <p:spPr>
          <a:xfrm>
            <a:off x="699611" y="661868"/>
            <a:ext cx="4997410" cy="62460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33E32"/>
              </a:buClr>
              <a:buSzPts val="3900"/>
              <a:buFont typeface="Alice"/>
              <a:buNone/>
            </a:pPr>
            <a:r>
              <a:rPr b="0" i="0" lang="en-US" sz="3900" u="none" cap="none" strike="noStrike">
                <a:solidFill>
                  <a:srgbClr val="233E32"/>
                </a:solidFill>
                <a:latin typeface="Alice"/>
                <a:ea typeface="Alice"/>
                <a:cs typeface="Alice"/>
                <a:sym typeface="Alice"/>
              </a:rPr>
              <a:t>End-to-End Data Flow</a:t>
            </a:r>
            <a:endParaRPr b="0" i="0" sz="3900" u="none" cap="none" strike="noStrike"/>
          </a:p>
        </p:txBody>
      </p:sp>
      <p:pic>
        <p:nvPicPr>
          <p:cNvPr id="263" name="Google Shape;263;p24"/>
          <p:cNvPicPr preferRelativeResize="0"/>
          <p:nvPr/>
        </p:nvPicPr>
        <p:blipFill>
          <a:blip r:embed="rId3">
            <a:alphaModFix/>
          </a:blip>
          <a:stretch>
            <a:fillRect/>
          </a:stretch>
        </p:blipFill>
        <p:spPr>
          <a:xfrm>
            <a:off x="93775" y="3138720"/>
            <a:ext cx="14325601" cy="228734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5"/>
          <p:cNvSpPr/>
          <p:nvPr/>
        </p:nvSpPr>
        <p:spPr>
          <a:xfrm>
            <a:off x="793790" y="1411724"/>
            <a:ext cx="697325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API Layer (Play Framework)</a:t>
            </a:r>
            <a:endParaRPr b="0" i="0" sz="4450" u="none" cap="none" strike="noStrike"/>
          </a:p>
        </p:txBody>
      </p:sp>
      <p:sp>
        <p:nvSpPr>
          <p:cNvPr id="270" name="Google Shape;270;p25"/>
          <p:cNvSpPr/>
          <p:nvPr/>
        </p:nvSpPr>
        <p:spPr>
          <a:xfrm>
            <a:off x="793790" y="268747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REST API Endpoints</a:t>
            </a:r>
            <a:endParaRPr b="0" i="0" sz="2200" u="none" cap="none" strike="noStrike"/>
          </a:p>
        </p:txBody>
      </p:sp>
      <p:sp>
        <p:nvSpPr>
          <p:cNvPr id="271" name="Google Shape;271;p25"/>
          <p:cNvSpPr/>
          <p:nvPr/>
        </p:nvSpPr>
        <p:spPr>
          <a:xfrm>
            <a:off x="793790" y="3268623"/>
            <a:ext cx="624470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The Play Framework powers a comprehensive REST API suite that abstracts backend complexity and provides clean access to processed data:</a:t>
            </a:r>
            <a:endParaRPr b="0" i="0" sz="1750" u="none" cap="none" strike="noStrike"/>
          </a:p>
        </p:txBody>
      </p:sp>
      <p:sp>
        <p:nvSpPr>
          <p:cNvPr id="272" name="Google Shape;272;p25"/>
          <p:cNvSpPr/>
          <p:nvPr/>
        </p:nvSpPr>
        <p:spPr>
          <a:xfrm>
            <a:off x="793790" y="4561403"/>
            <a:ext cx="6244709" cy="3705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Consolas"/>
              <a:buNone/>
            </a:pPr>
            <a:r>
              <a:rPr b="0" i="0" lang="en-US" sz="1750" u="none" cap="none" strike="noStrike">
                <a:solidFill>
                  <a:srgbClr val="2C2821"/>
                </a:solidFill>
                <a:highlight>
                  <a:srgbClr val="EFEEEB"/>
                </a:highlight>
                <a:latin typeface="Consolas"/>
                <a:ea typeface="Consolas"/>
                <a:cs typeface="Consolas"/>
                <a:sym typeface="Consolas"/>
              </a:rPr>
              <a:t>/api/metrics/realtime</a:t>
            </a:r>
            <a:r>
              <a:rPr b="0" i="0" lang="en-US" sz="1750" u="none" cap="none" strike="noStrike">
                <a:solidFill>
                  <a:srgbClr val="2C2821"/>
                </a:solidFill>
                <a:latin typeface="Lora"/>
                <a:ea typeface="Lora"/>
                <a:cs typeface="Lora"/>
                <a:sym typeface="Lora"/>
              </a:rPr>
              <a:t> – Live streaming data</a:t>
            </a:r>
            <a:endParaRPr b="0" i="0" sz="1750" u="none" cap="none" strike="noStrike"/>
          </a:p>
        </p:txBody>
      </p:sp>
      <p:sp>
        <p:nvSpPr>
          <p:cNvPr id="273" name="Google Shape;273;p25"/>
          <p:cNvSpPr/>
          <p:nvPr/>
        </p:nvSpPr>
        <p:spPr>
          <a:xfrm>
            <a:off x="793790" y="5011222"/>
            <a:ext cx="6244709" cy="3705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Consolas"/>
              <a:buNone/>
            </a:pPr>
            <a:r>
              <a:rPr b="0" i="0" lang="en-US" sz="1750" u="none" cap="none" strike="noStrike">
                <a:solidFill>
                  <a:srgbClr val="2C2821"/>
                </a:solidFill>
                <a:highlight>
                  <a:srgbClr val="EFEEEB"/>
                </a:highlight>
                <a:latin typeface="Consolas"/>
                <a:ea typeface="Consolas"/>
                <a:cs typeface="Consolas"/>
                <a:sym typeface="Consolas"/>
              </a:rPr>
              <a:t>/api/aggregates/daily</a:t>
            </a:r>
            <a:r>
              <a:rPr b="0" i="0" lang="en-US" sz="1750" u="none" cap="none" strike="noStrike">
                <a:solidFill>
                  <a:srgbClr val="2C2821"/>
                </a:solidFill>
                <a:latin typeface="Lora"/>
                <a:ea typeface="Lora"/>
                <a:cs typeface="Lora"/>
                <a:sym typeface="Lora"/>
              </a:rPr>
              <a:t> – Precomputed summaries</a:t>
            </a:r>
            <a:endParaRPr b="0" i="0" sz="1750" u="none" cap="none" strike="noStrike"/>
          </a:p>
        </p:txBody>
      </p:sp>
      <p:sp>
        <p:nvSpPr>
          <p:cNvPr id="274" name="Google Shape;274;p25"/>
          <p:cNvSpPr/>
          <p:nvPr/>
        </p:nvSpPr>
        <p:spPr>
          <a:xfrm>
            <a:off x="793790" y="5461040"/>
            <a:ext cx="6244709" cy="3705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Consolas"/>
              <a:buNone/>
            </a:pPr>
            <a:r>
              <a:rPr b="0" i="0" lang="en-US" sz="1750" u="none" cap="none" strike="noStrike">
                <a:solidFill>
                  <a:srgbClr val="2C2821"/>
                </a:solidFill>
                <a:highlight>
                  <a:srgbClr val="EFEEEB"/>
                </a:highlight>
                <a:latin typeface="Consolas"/>
                <a:ea typeface="Consolas"/>
                <a:cs typeface="Consolas"/>
                <a:sym typeface="Consolas"/>
              </a:rPr>
              <a:t>/api/devices/status</a:t>
            </a:r>
            <a:r>
              <a:rPr b="0" i="0" lang="en-US" sz="1750" u="none" cap="none" strike="noStrike">
                <a:solidFill>
                  <a:srgbClr val="2C2821"/>
                </a:solidFill>
                <a:latin typeface="Lora"/>
                <a:ea typeface="Lora"/>
                <a:cs typeface="Lora"/>
                <a:sym typeface="Lora"/>
              </a:rPr>
              <a:t> – Device health monitoring</a:t>
            </a:r>
            <a:endParaRPr b="0" i="0" sz="1750" u="none" cap="none" strike="noStrike"/>
          </a:p>
        </p:txBody>
      </p:sp>
      <p:sp>
        <p:nvSpPr>
          <p:cNvPr id="275" name="Google Shape;275;p25"/>
          <p:cNvSpPr/>
          <p:nvPr/>
        </p:nvSpPr>
        <p:spPr>
          <a:xfrm>
            <a:off x="793790" y="5910858"/>
            <a:ext cx="6244709" cy="3705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Consolas"/>
              <a:buNone/>
            </a:pPr>
            <a:r>
              <a:rPr b="0" i="0" lang="en-US" sz="1750" u="none" cap="none" strike="noStrike">
                <a:solidFill>
                  <a:srgbClr val="2C2821"/>
                </a:solidFill>
                <a:highlight>
                  <a:srgbClr val="EFEEEB"/>
                </a:highlight>
                <a:latin typeface="Consolas"/>
                <a:ea typeface="Consolas"/>
                <a:cs typeface="Consolas"/>
                <a:sym typeface="Consolas"/>
              </a:rPr>
              <a:t>/api/analytics/trends</a:t>
            </a:r>
            <a:r>
              <a:rPr b="0" i="0" lang="en-US" sz="1750" u="none" cap="none" strike="noStrike">
                <a:solidFill>
                  <a:srgbClr val="2C2821"/>
                </a:solidFill>
                <a:latin typeface="Lora"/>
                <a:ea typeface="Lora"/>
                <a:cs typeface="Lora"/>
                <a:sym typeface="Lora"/>
              </a:rPr>
              <a:t> – Historical trend analysis</a:t>
            </a:r>
            <a:endParaRPr b="0" i="0" sz="1750" u="none" cap="none" strike="noStrike"/>
          </a:p>
        </p:txBody>
      </p:sp>
      <p:sp>
        <p:nvSpPr>
          <p:cNvPr id="276" name="Google Shape;276;p25"/>
          <p:cNvSpPr/>
          <p:nvPr/>
        </p:nvSpPr>
        <p:spPr>
          <a:xfrm>
            <a:off x="7599521" y="268747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Data Source Mapping</a:t>
            </a:r>
            <a:endParaRPr b="0" i="0" sz="2200" u="none" cap="none" strike="noStrike"/>
          </a:p>
        </p:txBody>
      </p:sp>
      <p:sp>
        <p:nvSpPr>
          <p:cNvPr id="277" name="Google Shape;277;p25"/>
          <p:cNvSpPr/>
          <p:nvPr/>
        </p:nvSpPr>
        <p:spPr>
          <a:xfrm>
            <a:off x="7599521" y="3268623"/>
            <a:ext cx="62447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1" i="0" lang="en-US" sz="1750" u="none" cap="none" strike="noStrike">
                <a:solidFill>
                  <a:srgbClr val="2C2821"/>
                </a:solidFill>
                <a:latin typeface="Lora"/>
                <a:ea typeface="Lora"/>
                <a:cs typeface="Lora"/>
                <a:sym typeface="Lora"/>
              </a:rPr>
              <a:t>Real-time APIs:</a:t>
            </a:r>
            <a:r>
              <a:rPr b="0" i="0" lang="en-US" sz="1750" u="none" cap="none" strike="noStrike">
                <a:solidFill>
                  <a:srgbClr val="2C2821"/>
                </a:solidFill>
                <a:latin typeface="Lora"/>
                <a:ea typeface="Lora"/>
                <a:cs typeface="Lora"/>
                <a:sym typeface="Lora"/>
              </a:rPr>
              <a:t> Query Kafka directly via streaming consumers</a:t>
            </a:r>
            <a:endParaRPr b="0" i="0" sz="1750" u="none" cap="none" strike="noStrike"/>
          </a:p>
        </p:txBody>
      </p:sp>
      <p:sp>
        <p:nvSpPr>
          <p:cNvPr id="278" name="Google Shape;278;p25"/>
          <p:cNvSpPr/>
          <p:nvPr/>
        </p:nvSpPr>
        <p:spPr>
          <a:xfrm>
            <a:off x="7599521" y="4073723"/>
            <a:ext cx="624470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1" i="0" lang="en-US" sz="1750" u="none" cap="none" strike="noStrike">
                <a:solidFill>
                  <a:srgbClr val="2C2821"/>
                </a:solidFill>
                <a:latin typeface="Lora"/>
                <a:ea typeface="Lora"/>
                <a:cs typeface="Lora"/>
                <a:sym typeface="Lora"/>
              </a:rPr>
              <a:t>Aggregated APIs:</a:t>
            </a:r>
            <a:r>
              <a:rPr b="0" i="0" lang="en-US" sz="1750" u="none" cap="none" strike="noStrike">
                <a:solidFill>
                  <a:srgbClr val="2C2821"/>
                </a:solidFill>
                <a:latin typeface="Lora"/>
                <a:ea typeface="Lora"/>
                <a:cs typeface="Lora"/>
                <a:sym typeface="Lora"/>
              </a:rPr>
              <a:t> Fetch from Pipeline D Protobuf store</a:t>
            </a:r>
            <a:endParaRPr b="0" i="0" sz="1750" u="none" cap="none" strike="noStrike"/>
          </a:p>
        </p:txBody>
      </p:sp>
      <p:sp>
        <p:nvSpPr>
          <p:cNvPr id="279" name="Google Shape;279;p25"/>
          <p:cNvSpPr/>
          <p:nvPr/>
        </p:nvSpPr>
        <p:spPr>
          <a:xfrm>
            <a:off x="7599521" y="4515922"/>
            <a:ext cx="624470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1" i="0" lang="en-US" sz="1750" u="none" cap="none" strike="noStrike">
                <a:solidFill>
                  <a:srgbClr val="2C2821"/>
                </a:solidFill>
                <a:latin typeface="Lora"/>
                <a:ea typeface="Lora"/>
                <a:cs typeface="Lora"/>
                <a:sym typeface="Lora"/>
              </a:rPr>
              <a:t>Historical APIs:</a:t>
            </a:r>
            <a:r>
              <a:rPr b="0" i="0" lang="en-US" sz="1750" u="none" cap="none" strike="noStrike">
                <a:solidFill>
                  <a:srgbClr val="2C2821"/>
                </a:solidFill>
                <a:latin typeface="Lora"/>
                <a:ea typeface="Lora"/>
                <a:cs typeface="Lora"/>
                <a:sym typeface="Lora"/>
              </a:rPr>
              <a:t> Access Parquet data lake via Spark SQL</a:t>
            </a:r>
            <a:endParaRPr b="0" i="0" sz="1750" u="none" cap="none" strike="noStrike"/>
          </a:p>
        </p:txBody>
      </p:sp>
      <p:sp>
        <p:nvSpPr>
          <p:cNvPr id="280" name="Google Shape;280;p25"/>
          <p:cNvSpPr/>
          <p:nvPr/>
        </p:nvSpPr>
        <p:spPr>
          <a:xfrm>
            <a:off x="7599521" y="4958120"/>
            <a:ext cx="62447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1" i="0" lang="en-US" sz="1750" u="none" cap="none" strike="noStrike">
                <a:solidFill>
                  <a:srgbClr val="2C2821"/>
                </a:solidFill>
                <a:latin typeface="Lora"/>
                <a:ea typeface="Lora"/>
                <a:cs typeface="Lora"/>
                <a:sym typeface="Lora"/>
              </a:rPr>
              <a:t>Metadata APIs:</a:t>
            </a:r>
            <a:r>
              <a:rPr b="0" i="0" lang="en-US" sz="1750" u="none" cap="none" strike="noStrike">
                <a:solidFill>
                  <a:srgbClr val="2C2821"/>
                </a:solidFill>
                <a:latin typeface="Lora"/>
                <a:ea typeface="Lora"/>
                <a:cs typeface="Lora"/>
                <a:sym typeface="Lora"/>
              </a:rPr>
              <a:t> Connect to Postgres configuration database</a:t>
            </a:r>
            <a:endParaRPr b="0" i="0" sz="1750" u="none" cap="none" strike="noStrike"/>
          </a:p>
        </p:txBody>
      </p:sp>
      <p:sp>
        <p:nvSpPr>
          <p:cNvPr id="281" name="Google Shape;281;p25"/>
          <p:cNvSpPr/>
          <p:nvPr/>
        </p:nvSpPr>
        <p:spPr>
          <a:xfrm>
            <a:off x="7599521" y="5887998"/>
            <a:ext cx="62447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Postman collections document all endpoints with example requests and response schemas</a:t>
            </a:r>
            <a:endParaRPr b="0" i="0" sz="17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6"/>
          <p:cNvSpPr/>
          <p:nvPr/>
        </p:nvSpPr>
        <p:spPr>
          <a:xfrm>
            <a:off x="347150" y="479725"/>
            <a:ext cx="5231700" cy="918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400"/>
              </a:spcBef>
              <a:spcAft>
                <a:spcPts val="400"/>
              </a:spcAft>
              <a:buClr>
                <a:schemeClr val="dk1"/>
              </a:buClr>
              <a:buSzPts val="1100"/>
              <a:buFont typeface="Arial"/>
              <a:buNone/>
            </a:pPr>
            <a:r>
              <a:rPr b="1" lang="en-US" sz="2400">
                <a:solidFill>
                  <a:schemeClr val="dk1"/>
                </a:solidFill>
              </a:rPr>
              <a:t>Entity Relationships (MySQL ERD)</a:t>
            </a:r>
            <a:endParaRPr b="0" i="0" sz="1800" u="none" cap="none" strike="noStrike"/>
          </a:p>
        </p:txBody>
      </p:sp>
      <p:pic>
        <p:nvPicPr>
          <p:cNvPr id="288" name="Google Shape;288;p26" title="Untitled diagram-2025-12-15-182132.png"/>
          <p:cNvPicPr preferRelativeResize="0"/>
          <p:nvPr/>
        </p:nvPicPr>
        <p:blipFill>
          <a:blip r:embed="rId3">
            <a:alphaModFix/>
          </a:blip>
          <a:stretch>
            <a:fillRect/>
          </a:stretch>
        </p:blipFill>
        <p:spPr>
          <a:xfrm>
            <a:off x="5999325" y="617124"/>
            <a:ext cx="7784515" cy="5804177"/>
          </a:xfrm>
          <a:prstGeom prst="rect">
            <a:avLst/>
          </a:prstGeom>
          <a:noFill/>
          <a:ln>
            <a:noFill/>
          </a:ln>
        </p:spPr>
      </p:pic>
      <p:sp>
        <p:nvSpPr>
          <p:cNvPr id="289" name="Google Shape;289;p26"/>
          <p:cNvSpPr txBox="1"/>
          <p:nvPr/>
        </p:nvSpPr>
        <p:spPr>
          <a:xfrm>
            <a:off x="347150" y="1544525"/>
            <a:ext cx="4572000" cy="375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t/>
            </a:r>
            <a:endParaRPr b="1" sz="13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Zone → Sensor</a:t>
            </a:r>
            <a:br>
              <a:rPr b="1" lang="en-US">
                <a:solidFill>
                  <a:schemeClr val="dk1"/>
                </a:solidFill>
              </a:rPr>
            </a:br>
            <a:r>
              <a:rPr lang="en-US">
                <a:solidFill>
                  <a:schemeClr val="dk1"/>
                </a:solidFill>
              </a:rPr>
              <a:t> One zone can have </a:t>
            </a:r>
            <a:r>
              <a:rPr b="1" lang="en-US">
                <a:solidFill>
                  <a:schemeClr val="dk1"/>
                </a:solidFill>
              </a:rPr>
              <a:t>many sensors</a:t>
            </a:r>
            <a:r>
              <a:rPr lang="en-US">
                <a:solidFill>
                  <a:schemeClr val="dk1"/>
                </a:solidFill>
              </a:rPr>
              <a:t>, but each sensor belongs to </a:t>
            </a:r>
            <a:r>
              <a:rPr b="1" lang="en-US">
                <a:solidFill>
                  <a:schemeClr val="dk1"/>
                </a:solidFill>
              </a:rPr>
              <a:t>only one zone</a:t>
            </a:r>
            <a:r>
              <a:rPr lang="en-US">
                <a:solidFill>
                  <a:schemeClr val="dk1"/>
                </a:solidFill>
              </a:rPr>
              <a:t>.</a:t>
            </a:r>
            <a:br>
              <a:rPr lang="en-US">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Zone → Pollution Threshold</a:t>
            </a:r>
            <a:br>
              <a:rPr b="1" lang="en-US">
                <a:solidFill>
                  <a:schemeClr val="dk1"/>
                </a:solidFill>
              </a:rPr>
            </a:br>
            <a:r>
              <a:rPr lang="en-US">
                <a:solidFill>
                  <a:schemeClr val="dk1"/>
                </a:solidFill>
              </a:rPr>
              <a:t> One zone can have </a:t>
            </a:r>
            <a:r>
              <a:rPr b="1" lang="en-US">
                <a:solidFill>
                  <a:schemeClr val="dk1"/>
                </a:solidFill>
              </a:rPr>
              <a:t>multiple pollution threshold records</a:t>
            </a:r>
            <a:r>
              <a:rPr lang="en-US">
                <a:solidFill>
                  <a:schemeClr val="dk1"/>
                </a:solidFill>
              </a:rPr>
              <a:t>, defining acceptable pollution limits.</a:t>
            </a:r>
            <a:br>
              <a:rPr lang="en-US">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Zone → Daily Pollution Summary</a:t>
            </a:r>
            <a:br>
              <a:rPr b="1" lang="en-US">
                <a:solidFill>
                  <a:schemeClr val="dk1"/>
                </a:solidFill>
              </a:rPr>
            </a:br>
            <a:r>
              <a:rPr lang="en-US">
                <a:solidFill>
                  <a:schemeClr val="dk1"/>
                </a:solidFill>
              </a:rPr>
              <a:t> One zone can have </a:t>
            </a:r>
            <a:r>
              <a:rPr b="1" lang="en-US">
                <a:solidFill>
                  <a:schemeClr val="dk1"/>
                </a:solidFill>
              </a:rPr>
              <a:t>many daily summary records</a:t>
            </a:r>
            <a:r>
              <a:rPr lang="en-US">
                <a:solidFill>
                  <a:schemeClr val="dk1"/>
                </a:solidFill>
              </a:rPr>
              <a:t>, with one record per day capturing average pollution levels and anomaly counts.</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27" title="Screenshot 2025-12-15 at 4.40.39 PM.png"/>
          <p:cNvPicPr preferRelativeResize="0"/>
          <p:nvPr/>
        </p:nvPicPr>
        <p:blipFill>
          <a:blip r:embed="rId3">
            <a:alphaModFix/>
          </a:blip>
          <a:stretch>
            <a:fillRect/>
          </a:stretch>
        </p:blipFill>
        <p:spPr>
          <a:xfrm>
            <a:off x="1425825" y="507213"/>
            <a:ext cx="11778749" cy="7361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p28" title="Screenshot 2025-12-15 at 4.41.06 PM.png"/>
          <p:cNvPicPr preferRelativeResize="0"/>
          <p:nvPr/>
        </p:nvPicPr>
        <p:blipFill>
          <a:blip r:embed="rId3">
            <a:alphaModFix/>
          </a:blip>
          <a:stretch>
            <a:fillRect/>
          </a:stretch>
        </p:blipFill>
        <p:spPr>
          <a:xfrm>
            <a:off x="1777525" y="653750"/>
            <a:ext cx="11221048" cy="70131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29" title="Screenshot 2025-12-15 at 4.41.13 PM.png"/>
          <p:cNvPicPr preferRelativeResize="0"/>
          <p:nvPr/>
        </p:nvPicPr>
        <p:blipFill>
          <a:blip r:embed="rId3">
            <a:alphaModFix/>
          </a:blip>
          <a:stretch>
            <a:fillRect/>
          </a:stretch>
        </p:blipFill>
        <p:spPr>
          <a:xfrm>
            <a:off x="1458950" y="319450"/>
            <a:ext cx="11527276" cy="72045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30" title="Screenshot 2025-12-15 at 4.41.20 PM.png"/>
          <p:cNvPicPr preferRelativeResize="0"/>
          <p:nvPr/>
        </p:nvPicPr>
        <p:blipFill>
          <a:blip r:embed="rId3">
            <a:alphaModFix/>
          </a:blip>
          <a:stretch>
            <a:fillRect/>
          </a:stretch>
        </p:blipFill>
        <p:spPr>
          <a:xfrm>
            <a:off x="1396513" y="415625"/>
            <a:ext cx="11837373" cy="73983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31" title="Screenshot 2025-12-15 at 11.08.35 PM.png"/>
          <p:cNvPicPr preferRelativeResize="0"/>
          <p:nvPr/>
        </p:nvPicPr>
        <p:blipFill>
          <a:blip r:embed="rId3">
            <a:alphaModFix/>
          </a:blip>
          <a:stretch>
            <a:fillRect/>
          </a:stretch>
        </p:blipFill>
        <p:spPr>
          <a:xfrm>
            <a:off x="1414975" y="482113"/>
            <a:ext cx="11624602" cy="72653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32" title="Screenshot 2025-12-15 at 11.13.02 PM.png"/>
          <p:cNvPicPr preferRelativeResize="0"/>
          <p:nvPr/>
        </p:nvPicPr>
        <p:blipFill>
          <a:blip r:embed="rId3">
            <a:alphaModFix/>
          </a:blip>
          <a:stretch>
            <a:fillRect/>
          </a:stretch>
        </p:blipFill>
        <p:spPr>
          <a:xfrm>
            <a:off x="1493225" y="548075"/>
            <a:ext cx="11784602" cy="73653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33" title="Screenshot 2025-12-15 at 11.34.09 PM.png"/>
          <p:cNvPicPr preferRelativeResize="0"/>
          <p:nvPr/>
        </p:nvPicPr>
        <p:blipFill>
          <a:blip r:embed="rId3">
            <a:alphaModFix/>
          </a:blip>
          <a:stretch>
            <a:fillRect/>
          </a:stretch>
        </p:blipFill>
        <p:spPr>
          <a:xfrm>
            <a:off x="963625" y="290150"/>
            <a:ext cx="12345001" cy="77156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4"/>
          <p:cNvSpPr/>
          <p:nvPr/>
        </p:nvSpPr>
        <p:spPr>
          <a:xfrm>
            <a:off x="793790" y="1181933"/>
            <a:ext cx="882503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Spark Processing &amp; DAG Overview</a:t>
            </a:r>
            <a:endParaRPr b="0" i="0" sz="4450" u="none" cap="none" strike="noStrike"/>
          </a:p>
        </p:txBody>
      </p:sp>
      <p:sp>
        <p:nvSpPr>
          <p:cNvPr id="338" name="Google Shape;338;p34"/>
          <p:cNvSpPr/>
          <p:nvPr/>
        </p:nvSpPr>
        <p:spPr>
          <a:xfrm>
            <a:off x="793790" y="2344341"/>
            <a:ext cx="4196358" cy="3121462"/>
          </a:xfrm>
          <a:prstGeom prst="roundRect">
            <a:avLst>
              <a:gd fmla="val 109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4"/>
          <p:cNvSpPr/>
          <p:nvPr/>
        </p:nvSpPr>
        <p:spPr>
          <a:xfrm>
            <a:off x="1020604" y="257115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Streaming Execution</a:t>
            </a:r>
            <a:endParaRPr b="0" i="0" sz="2200" u="none" cap="none" strike="noStrike"/>
          </a:p>
        </p:txBody>
      </p:sp>
      <p:sp>
        <p:nvSpPr>
          <p:cNvPr id="340" name="Google Shape;340;p34"/>
          <p:cNvSpPr/>
          <p:nvPr/>
        </p:nvSpPr>
        <p:spPr>
          <a:xfrm>
            <a:off x="1020604" y="3061573"/>
            <a:ext cx="3742730"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Micro-batch processing with Spark Structured Streaming enables near real-time transformations with exactly-once semantics. Watermarking handles late-arriving events gracefully.</a:t>
            </a:r>
            <a:endParaRPr b="0" i="0" sz="1750" u="none" cap="none" strike="noStrike"/>
          </a:p>
        </p:txBody>
      </p:sp>
      <p:sp>
        <p:nvSpPr>
          <p:cNvPr id="341" name="Google Shape;341;p34"/>
          <p:cNvSpPr/>
          <p:nvPr/>
        </p:nvSpPr>
        <p:spPr>
          <a:xfrm>
            <a:off x="5216962" y="2344341"/>
            <a:ext cx="4196358" cy="3121462"/>
          </a:xfrm>
          <a:prstGeom prst="roundRect">
            <a:avLst>
              <a:gd fmla="val 109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4"/>
          <p:cNvSpPr/>
          <p:nvPr/>
        </p:nvSpPr>
        <p:spPr>
          <a:xfrm>
            <a:off x="5443776" y="257115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Join Strategies</a:t>
            </a:r>
            <a:endParaRPr b="0" i="0" sz="2200" u="none" cap="none" strike="noStrike"/>
          </a:p>
        </p:txBody>
      </p:sp>
      <p:sp>
        <p:nvSpPr>
          <p:cNvPr id="343" name="Google Shape;343;p34"/>
          <p:cNvSpPr/>
          <p:nvPr/>
        </p:nvSpPr>
        <p:spPr>
          <a:xfrm>
            <a:off x="5443776" y="3061573"/>
            <a:ext cx="374273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Stream-to-stream and stream-to-static joins enrich event data with reference information. Broadcast joins optimize performance for smaller dimension tables.</a:t>
            </a:r>
            <a:endParaRPr b="0" i="0" sz="1750" u="none" cap="none" strike="noStrike"/>
          </a:p>
        </p:txBody>
      </p:sp>
      <p:sp>
        <p:nvSpPr>
          <p:cNvPr id="344" name="Google Shape;344;p34"/>
          <p:cNvSpPr/>
          <p:nvPr/>
        </p:nvSpPr>
        <p:spPr>
          <a:xfrm>
            <a:off x="9640133" y="2344341"/>
            <a:ext cx="4196358" cy="3121462"/>
          </a:xfrm>
          <a:prstGeom prst="roundRect">
            <a:avLst>
              <a:gd fmla="val 109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4"/>
          <p:cNvSpPr/>
          <p:nvPr/>
        </p:nvSpPr>
        <p:spPr>
          <a:xfrm>
            <a:off x="9866948" y="257115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Aggregation Stages</a:t>
            </a:r>
            <a:endParaRPr b="0" i="0" sz="2200" u="none" cap="none" strike="noStrike"/>
          </a:p>
        </p:txBody>
      </p:sp>
      <p:sp>
        <p:nvSpPr>
          <p:cNvPr id="346" name="Google Shape;346;p34"/>
          <p:cNvSpPr/>
          <p:nvPr/>
        </p:nvSpPr>
        <p:spPr>
          <a:xfrm>
            <a:off x="9866948" y="3061573"/>
            <a:ext cx="374273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Multi-level aggregations compute rolling windows, sessionization, and custom metrics. State management ensures accurate cumulative calculations.</a:t>
            </a:r>
            <a:endParaRPr b="0" i="0" sz="1750" u="none" cap="none" strike="noStrike"/>
          </a:p>
        </p:txBody>
      </p:sp>
      <p:sp>
        <p:nvSpPr>
          <p:cNvPr id="347" name="Google Shape;347;p34"/>
          <p:cNvSpPr/>
          <p:nvPr/>
        </p:nvSpPr>
        <p:spPr>
          <a:xfrm>
            <a:off x="793790" y="5720953"/>
            <a:ext cx="13042821" cy="1326713"/>
          </a:xfrm>
          <a:prstGeom prst="roundRect">
            <a:avLst>
              <a:gd fmla="val 2565" name="adj"/>
            </a:avLst>
          </a:prstGeom>
          <a:solidFill>
            <a:srgbClr val="C3E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8" name="Google Shape;348;p34"/>
          <p:cNvPicPr preferRelativeResize="0"/>
          <p:nvPr/>
        </p:nvPicPr>
        <p:blipFill rotWithShape="1">
          <a:blip r:embed="rId3">
            <a:alphaModFix/>
          </a:blip>
          <a:srcRect b="0" l="0" r="0" t="0"/>
          <a:stretch/>
        </p:blipFill>
        <p:spPr>
          <a:xfrm>
            <a:off x="1020604" y="6065044"/>
            <a:ext cx="283488" cy="226814"/>
          </a:xfrm>
          <a:prstGeom prst="rect">
            <a:avLst/>
          </a:prstGeom>
          <a:noFill/>
          <a:ln>
            <a:noFill/>
          </a:ln>
        </p:spPr>
      </p:pic>
      <p:sp>
        <p:nvSpPr>
          <p:cNvPr id="349" name="Google Shape;349;p34"/>
          <p:cNvSpPr/>
          <p:nvPr/>
        </p:nvSpPr>
        <p:spPr>
          <a:xfrm>
            <a:off x="1530906" y="6004441"/>
            <a:ext cx="1207889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750"/>
              <a:buFont typeface="Lora"/>
              <a:buNone/>
            </a:pPr>
            <a:r>
              <a:rPr b="1" i="0" lang="en-US" sz="1750" u="none" cap="none" strike="noStrike">
                <a:solidFill>
                  <a:srgbClr val="000000"/>
                </a:solidFill>
                <a:latin typeface="Lora"/>
                <a:ea typeface="Lora"/>
                <a:cs typeface="Lora"/>
                <a:sym typeface="Lora"/>
              </a:rPr>
              <a:t>Spark UI Insight:</a:t>
            </a:r>
            <a:r>
              <a:rPr b="0" i="0" lang="en-US" sz="1750" u="none" cap="none" strike="noStrike">
                <a:solidFill>
                  <a:srgbClr val="000000"/>
                </a:solidFill>
                <a:latin typeface="Lora"/>
                <a:ea typeface="Lora"/>
                <a:cs typeface="Lora"/>
                <a:sym typeface="Lora"/>
              </a:rPr>
              <a:t> The DAG visualization reveals the complete execution plan, showing shuffle operations, stage dependencies, and optimization opportunities for performance tuning.</a:t>
            </a:r>
            <a:endParaRPr b="0" i="0" sz="1750" u="none" cap="none" strike="noStrike"/>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descr="preencoded.png" id="355" name="Google Shape;355;p35"/>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56" name="Google Shape;356;p35"/>
          <p:cNvSpPr/>
          <p:nvPr/>
        </p:nvSpPr>
        <p:spPr>
          <a:xfrm>
            <a:off x="6181368" y="719614"/>
            <a:ext cx="6330315" cy="620554"/>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33E32"/>
              </a:buClr>
              <a:buSzPts val="3900"/>
              <a:buFont typeface="Alice"/>
              <a:buNone/>
            </a:pPr>
            <a:r>
              <a:rPr b="0" i="0" lang="en-US" sz="3900" u="none" cap="none" strike="noStrike">
                <a:solidFill>
                  <a:srgbClr val="233E32"/>
                </a:solidFill>
                <a:latin typeface="Alice"/>
                <a:ea typeface="Alice"/>
                <a:cs typeface="Alice"/>
                <a:sym typeface="Alice"/>
              </a:rPr>
              <a:t>Performance Considerations</a:t>
            </a:r>
            <a:endParaRPr b="0" i="0" sz="3900" u="none" cap="none" strike="noStrike"/>
          </a:p>
        </p:txBody>
      </p:sp>
      <p:sp>
        <p:nvSpPr>
          <p:cNvPr id="357" name="Google Shape;357;p35"/>
          <p:cNvSpPr/>
          <p:nvPr/>
        </p:nvSpPr>
        <p:spPr>
          <a:xfrm>
            <a:off x="6181368" y="1637943"/>
            <a:ext cx="7754064" cy="1824990"/>
          </a:xfrm>
          <a:prstGeom prst="roundRect">
            <a:avLst>
              <a:gd fmla="val 1632" name="adj"/>
            </a:avLst>
          </a:prstGeom>
          <a:solidFill>
            <a:srgbClr val="FCFBF8"/>
          </a:solidFill>
          <a:ln cap="flat" cmpd="sng" w="22850">
            <a:solidFill>
              <a:srgbClr val="D6D3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5"/>
          <p:cNvSpPr/>
          <p:nvPr/>
        </p:nvSpPr>
        <p:spPr>
          <a:xfrm>
            <a:off x="6204228" y="1660803"/>
            <a:ext cx="794266" cy="1779270"/>
          </a:xfrm>
          <a:prstGeom prst="roundRect">
            <a:avLst>
              <a:gd fmla="val 29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5"/>
          <p:cNvSpPr/>
          <p:nvPr/>
        </p:nvSpPr>
        <p:spPr>
          <a:xfrm>
            <a:off x="6452473" y="2364224"/>
            <a:ext cx="297775" cy="3723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2821"/>
              </a:buClr>
              <a:buSzPts val="2300"/>
              <a:buFont typeface="Alice"/>
              <a:buNone/>
            </a:pPr>
            <a:r>
              <a:rPr b="0" i="0" lang="en-US" sz="2300" u="none" cap="none" strike="noStrike">
                <a:solidFill>
                  <a:srgbClr val="2C2821"/>
                </a:solidFill>
                <a:latin typeface="Alice"/>
                <a:ea typeface="Alice"/>
                <a:cs typeface="Alice"/>
                <a:sym typeface="Alice"/>
              </a:rPr>
              <a:t>1</a:t>
            </a:r>
            <a:endParaRPr b="0" i="0" sz="2300" u="none" cap="none" strike="noStrike"/>
          </a:p>
        </p:txBody>
      </p:sp>
      <p:sp>
        <p:nvSpPr>
          <p:cNvPr id="360" name="Google Shape;360;p35"/>
          <p:cNvSpPr/>
          <p:nvPr/>
        </p:nvSpPr>
        <p:spPr>
          <a:xfrm>
            <a:off x="7196971" y="1859280"/>
            <a:ext cx="2482334" cy="310277"/>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Horizontal Scalability</a:t>
            </a:r>
            <a:endParaRPr b="0" i="0" sz="1950" u="none" cap="none" strike="noStrike"/>
          </a:p>
        </p:txBody>
      </p:sp>
      <p:sp>
        <p:nvSpPr>
          <p:cNvPr id="361" name="Google Shape;361;p35"/>
          <p:cNvSpPr/>
          <p:nvPr/>
        </p:nvSpPr>
        <p:spPr>
          <a:xfrm>
            <a:off x="7196971" y="2288619"/>
            <a:ext cx="6517124" cy="952976"/>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0" i="0" lang="en-US" sz="1550" u="none" cap="none" strike="noStrike">
                <a:solidFill>
                  <a:srgbClr val="2C2821"/>
                </a:solidFill>
                <a:latin typeface="Lora"/>
                <a:ea typeface="Lora"/>
                <a:cs typeface="Lora"/>
                <a:sym typeface="Lora"/>
              </a:rPr>
              <a:t>The platform scales linearly by adding Spark executors and Kafka partitions. Auto-scaling policies adjust resources based on ingestion throughput and processing lag metrics.</a:t>
            </a:r>
            <a:endParaRPr b="0" i="0" sz="1550" u="none" cap="none" strike="noStrike"/>
          </a:p>
        </p:txBody>
      </p:sp>
      <p:sp>
        <p:nvSpPr>
          <p:cNvPr id="362" name="Google Shape;362;p35"/>
          <p:cNvSpPr/>
          <p:nvPr/>
        </p:nvSpPr>
        <p:spPr>
          <a:xfrm>
            <a:off x="6181368" y="3661410"/>
            <a:ext cx="7754064" cy="1824990"/>
          </a:xfrm>
          <a:prstGeom prst="roundRect">
            <a:avLst>
              <a:gd fmla="val 1632" name="adj"/>
            </a:avLst>
          </a:prstGeom>
          <a:solidFill>
            <a:srgbClr val="FCFBF8"/>
          </a:solidFill>
          <a:ln cap="flat" cmpd="sng" w="22850">
            <a:solidFill>
              <a:srgbClr val="D6D3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5"/>
          <p:cNvSpPr/>
          <p:nvPr/>
        </p:nvSpPr>
        <p:spPr>
          <a:xfrm>
            <a:off x="6204228" y="3684270"/>
            <a:ext cx="794266" cy="1779270"/>
          </a:xfrm>
          <a:prstGeom prst="roundRect">
            <a:avLst>
              <a:gd fmla="val 29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5"/>
          <p:cNvSpPr/>
          <p:nvPr/>
        </p:nvSpPr>
        <p:spPr>
          <a:xfrm>
            <a:off x="6452473" y="4387691"/>
            <a:ext cx="297775" cy="3723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2821"/>
              </a:buClr>
              <a:buSzPts val="2300"/>
              <a:buFont typeface="Alice"/>
              <a:buNone/>
            </a:pPr>
            <a:r>
              <a:rPr b="0" i="0" lang="en-US" sz="2300" u="none" cap="none" strike="noStrike">
                <a:solidFill>
                  <a:srgbClr val="2C2821"/>
                </a:solidFill>
                <a:latin typeface="Alice"/>
                <a:ea typeface="Alice"/>
                <a:cs typeface="Alice"/>
                <a:sym typeface="Alice"/>
              </a:rPr>
              <a:t>2</a:t>
            </a:r>
            <a:endParaRPr b="0" i="0" sz="2300" u="none" cap="none" strike="noStrike"/>
          </a:p>
        </p:txBody>
      </p:sp>
      <p:sp>
        <p:nvSpPr>
          <p:cNvPr id="365" name="Google Shape;365;p35"/>
          <p:cNvSpPr/>
          <p:nvPr/>
        </p:nvSpPr>
        <p:spPr>
          <a:xfrm>
            <a:off x="7196971" y="3882747"/>
            <a:ext cx="2845118" cy="310277"/>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Throughput Management</a:t>
            </a:r>
            <a:endParaRPr b="0" i="0" sz="1950" u="none" cap="none" strike="noStrike"/>
          </a:p>
        </p:txBody>
      </p:sp>
      <p:sp>
        <p:nvSpPr>
          <p:cNvPr id="366" name="Google Shape;366;p35"/>
          <p:cNvSpPr/>
          <p:nvPr/>
        </p:nvSpPr>
        <p:spPr>
          <a:xfrm>
            <a:off x="7196971" y="4312087"/>
            <a:ext cx="6517124" cy="952976"/>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0" i="0" lang="en-US" sz="1550" u="none" cap="none" strike="noStrike">
                <a:solidFill>
                  <a:srgbClr val="2C2821"/>
                </a:solidFill>
                <a:latin typeface="Lora"/>
                <a:ea typeface="Lora"/>
                <a:cs typeface="Lora"/>
                <a:sym typeface="Lora"/>
              </a:rPr>
              <a:t>Optimized batch sizes and parallelism configurations handle peak loads exceeding 100K events/second. Backpressure mechanisms prevent pipeline overload during traffic spikes.</a:t>
            </a:r>
            <a:endParaRPr b="0" i="0" sz="1550" u="none" cap="none" strike="noStrike"/>
          </a:p>
        </p:txBody>
      </p:sp>
      <p:sp>
        <p:nvSpPr>
          <p:cNvPr id="367" name="Google Shape;367;p35"/>
          <p:cNvSpPr/>
          <p:nvPr/>
        </p:nvSpPr>
        <p:spPr>
          <a:xfrm>
            <a:off x="6181368" y="5684877"/>
            <a:ext cx="7754064" cy="1824990"/>
          </a:xfrm>
          <a:prstGeom prst="roundRect">
            <a:avLst>
              <a:gd fmla="val 1632" name="adj"/>
            </a:avLst>
          </a:prstGeom>
          <a:solidFill>
            <a:srgbClr val="FCFBF8"/>
          </a:solidFill>
          <a:ln cap="flat" cmpd="sng" w="22850">
            <a:solidFill>
              <a:srgbClr val="D6D3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5"/>
          <p:cNvSpPr/>
          <p:nvPr/>
        </p:nvSpPr>
        <p:spPr>
          <a:xfrm>
            <a:off x="6204228" y="5707737"/>
            <a:ext cx="794266" cy="1779270"/>
          </a:xfrm>
          <a:prstGeom prst="roundRect">
            <a:avLst>
              <a:gd fmla="val 29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5"/>
          <p:cNvSpPr/>
          <p:nvPr/>
        </p:nvSpPr>
        <p:spPr>
          <a:xfrm>
            <a:off x="6452473" y="6411158"/>
            <a:ext cx="297775" cy="3723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2821"/>
              </a:buClr>
              <a:buSzPts val="2300"/>
              <a:buFont typeface="Alice"/>
              <a:buNone/>
            </a:pPr>
            <a:r>
              <a:rPr b="0" i="0" lang="en-US" sz="2300" u="none" cap="none" strike="noStrike">
                <a:solidFill>
                  <a:srgbClr val="2C2821"/>
                </a:solidFill>
                <a:latin typeface="Alice"/>
                <a:ea typeface="Alice"/>
                <a:cs typeface="Alice"/>
                <a:sym typeface="Alice"/>
              </a:rPr>
              <a:t>3</a:t>
            </a:r>
            <a:endParaRPr b="0" i="0" sz="2300" u="none" cap="none" strike="noStrike"/>
          </a:p>
        </p:txBody>
      </p:sp>
      <p:sp>
        <p:nvSpPr>
          <p:cNvPr id="370" name="Google Shape;370;p35"/>
          <p:cNvSpPr/>
          <p:nvPr/>
        </p:nvSpPr>
        <p:spPr>
          <a:xfrm>
            <a:off x="7196971" y="5906214"/>
            <a:ext cx="2482334" cy="310277"/>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Storage Optimization</a:t>
            </a:r>
            <a:endParaRPr b="0" i="0" sz="1950" u="none" cap="none" strike="noStrike"/>
          </a:p>
        </p:txBody>
      </p:sp>
      <p:sp>
        <p:nvSpPr>
          <p:cNvPr id="371" name="Google Shape;371;p35"/>
          <p:cNvSpPr/>
          <p:nvPr/>
        </p:nvSpPr>
        <p:spPr>
          <a:xfrm>
            <a:off x="7196971" y="6335554"/>
            <a:ext cx="6517124" cy="952976"/>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0" i="0" lang="en-US" sz="1550" u="none" cap="none" strike="noStrike">
                <a:solidFill>
                  <a:srgbClr val="2C2821"/>
                </a:solidFill>
                <a:latin typeface="Lora"/>
                <a:ea typeface="Lora"/>
                <a:cs typeface="Lora"/>
                <a:sym typeface="Lora"/>
              </a:rPr>
              <a:t>Columnar Parquet format with Snappy compression reduces storage costs by 70%. Partitioning strategies by date and key dimensions enable efficient query pruning and data lifecycle management.</a:t>
            </a:r>
            <a:endParaRPr b="0" i="0" sz="1550" u="none" cap="none" strike="noStrike"/>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6"/>
          <p:cNvSpPr/>
          <p:nvPr/>
        </p:nvSpPr>
        <p:spPr>
          <a:xfrm>
            <a:off x="773073" y="785217"/>
            <a:ext cx="5522357" cy="690205"/>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33E32"/>
              </a:buClr>
              <a:buSzPts val="4300"/>
              <a:buFont typeface="Alice"/>
              <a:buNone/>
            </a:pPr>
            <a:r>
              <a:rPr b="0" i="0" lang="en-US" sz="4300" u="none" cap="none" strike="noStrike">
                <a:solidFill>
                  <a:srgbClr val="233E32"/>
                </a:solidFill>
                <a:latin typeface="Alice"/>
                <a:ea typeface="Alice"/>
                <a:cs typeface="Alice"/>
                <a:sym typeface="Alice"/>
              </a:rPr>
              <a:t>Key Learnings</a:t>
            </a:r>
            <a:endParaRPr b="0" i="0" sz="4300" u="none" cap="none" strike="noStrike"/>
          </a:p>
        </p:txBody>
      </p:sp>
      <p:pic>
        <p:nvPicPr>
          <p:cNvPr descr="preencoded.png" id="378" name="Google Shape;378;p36"/>
          <p:cNvPicPr preferRelativeResize="0"/>
          <p:nvPr/>
        </p:nvPicPr>
        <p:blipFill rotWithShape="1">
          <a:blip r:embed="rId3">
            <a:alphaModFix/>
          </a:blip>
          <a:srcRect b="0" l="0" r="0" t="0"/>
          <a:stretch/>
        </p:blipFill>
        <p:spPr>
          <a:xfrm>
            <a:off x="773073" y="1917144"/>
            <a:ext cx="552212" cy="552212"/>
          </a:xfrm>
          <a:prstGeom prst="rect">
            <a:avLst/>
          </a:prstGeom>
          <a:noFill/>
          <a:ln>
            <a:noFill/>
          </a:ln>
        </p:spPr>
      </p:pic>
      <p:sp>
        <p:nvSpPr>
          <p:cNvPr id="379" name="Google Shape;379;p36"/>
          <p:cNvSpPr/>
          <p:nvPr/>
        </p:nvSpPr>
        <p:spPr>
          <a:xfrm>
            <a:off x="773073" y="2745462"/>
            <a:ext cx="2863096" cy="34504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Real-Time Architecture</a:t>
            </a:r>
            <a:endParaRPr b="0" i="0" sz="2150" u="none" cap="none" strike="noStrike"/>
          </a:p>
        </p:txBody>
      </p:sp>
      <p:sp>
        <p:nvSpPr>
          <p:cNvPr id="380" name="Google Shape;380;p36"/>
          <p:cNvSpPr/>
          <p:nvPr/>
        </p:nvSpPr>
        <p:spPr>
          <a:xfrm>
            <a:off x="773073" y="3223022"/>
            <a:ext cx="6404015" cy="1413510"/>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Mastered event-driven design patterns, including exactly-once processing semantics, stateful stream processing, and window-based aggregations critical for production streaming systems.</a:t>
            </a:r>
            <a:endParaRPr b="0" i="0" sz="1700" u="none" cap="none" strike="noStrike"/>
          </a:p>
        </p:txBody>
      </p:sp>
      <p:pic>
        <p:nvPicPr>
          <p:cNvPr descr="preencoded.png" id="381" name="Google Shape;381;p36"/>
          <p:cNvPicPr preferRelativeResize="0"/>
          <p:nvPr/>
        </p:nvPicPr>
        <p:blipFill rotWithShape="1">
          <a:blip r:embed="rId4">
            <a:alphaModFix/>
          </a:blip>
          <a:srcRect b="0" l="0" r="0" t="0"/>
          <a:stretch/>
        </p:blipFill>
        <p:spPr>
          <a:xfrm>
            <a:off x="7453193" y="1917144"/>
            <a:ext cx="552212" cy="552212"/>
          </a:xfrm>
          <a:prstGeom prst="rect">
            <a:avLst/>
          </a:prstGeom>
          <a:noFill/>
          <a:ln>
            <a:noFill/>
          </a:ln>
        </p:spPr>
      </p:pic>
      <p:sp>
        <p:nvSpPr>
          <p:cNvPr id="382" name="Google Shape;382;p36"/>
          <p:cNvSpPr/>
          <p:nvPr/>
        </p:nvSpPr>
        <p:spPr>
          <a:xfrm>
            <a:off x="7453193" y="2745462"/>
            <a:ext cx="2828687" cy="34504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Batch Analytics Design</a:t>
            </a:r>
            <a:endParaRPr b="0" i="0" sz="2150" u="none" cap="none" strike="noStrike"/>
          </a:p>
        </p:txBody>
      </p:sp>
      <p:sp>
        <p:nvSpPr>
          <p:cNvPr id="383" name="Google Shape;383;p36"/>
          <p:cNvSpPr/>
          <p:nvPr/>
        </p:nvSpPr>
        <p:spPr>
          <a:xfrm>
            <a:off x="7453193" y="3223022"/>
            <a:ext cx="6404134" cy="1060133"/>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Developed expertise in dimensional modeling, incremental batch processing patterns, and efficient partitioning strategies that balance query performance with storage costs.</a:t>
            </a:r>
            <a:endParaRPr b="0" i="0" sz="1700" u="none" cap="none" strike="noStrike"/>
          </a:p>
        </p:txBody>
      </p:sp>
      <p:pic>
        <p:nvPicPr>
          <p:cNvPr descr="preencoded.png" id="384" name="Google Shape;384;p36"/>
          <p:cNvPicPr preferRelativeResize="0"/>
          <p:nvPr/>
        </p:nvPicPr>
        <p:blipFill rotWithShape="1">
          <a:blip r:embed="rId5">
            <a:alphaModFix/>
          </a:blip>
          <a:srcRect b="0" l="0" r="0" t="0"/>
          <a:stretch/>
        </p:blipFill>
        <p:spPr>
          <a:xfrm>
            <a:off x="773073" y="5078254"/>
            <a:ext cx="552212" cy="552212"/>
          </a:xfrm>
          <a:prstGeom prst="rect">
            <a:avLst/>
          </a:prstGeom>
          <a:noFill/>
          <a:ln>
            <a:noFill/>
          </a:ln>
        </p:spPr>
      </p:pic>
      <p:sp>
        <p:nvSpPr>
          <p:cNvPr id="385" name="Google Shape;385;p36"/>
          <p:cNvSpPr/>
          <p:nvPr/>
        </p:nvSpPr>
        <p:spPr>
          <a:xfrm>
            <a:off x="773073" y="5906572"/>
            <a:ext cx="2761178" cy="34504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Schema Evolution</a:t>
            </a:r>
            <a:endParaRPr b="0" i="0" sz="2150" u="none" cap="none" strike="noStrike"/>
          </a:p>
        </p:txBody>
      </p:sp>
      <p:sp>
        <p:nvSpPr>
          <p:cNvPr id="386" name="Google Shape;386;p36"/>
          <p:cNvSpPr/>
          <p:nvPr/>
        </p:nvSpPr>
        <p:spPr>
          <a:xfrm>
            <a:off x="773073" y="6384131"/>
            <a:ext cx="6404015" cy="1060133"/>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Implemented backward-compatible schema versioning using Avro and Protobuf, enabling zero-downtime deployments and seamless data pipeline upgrades across the platform.</a:t>
            </a:r>
            <a:endParaRPr b="0" i="0" sz="1700" u="none" cap="none" strike="noStrike"/>
          </a:p>
        </p:txBody>
      </p:sp>
      <p:pic>
        <p:nvPicPr>
          <p:cNvPr descr="preencoded.png" id="387" name="Google Shape;387;p36"/>
          <p:cNvPicPr preferRelativeResize="0"/>
          <p:nvPr/>
        </p:nvPicPr>
        <p:blipFill rotWithShape="1">
          <a:blip r:embed="rId6">
            <a:alphaModFix/>
          </a:blip>
          <a:srcRect b="0" l="0" r="0" t="0"/>
          <a:stretch/>
        </p:blipFill>
        <p:spPr>
          <a:xfrm>
            <a:off x="7453193" y="5078254"/>
            <a:ext cx="552212" cy="552212"/>
          </a:xfrm>
          <a:prstGeom prst="rect">
            <a:avLst/>
          </a:prstGeom>
          <a:noFill/>
          <a:ln>
            <a:noFill/>
          </a:ln>
        </p:spPr>
      </p:pic>
      <p:sp>
        <p:nvSpPr>
          <p:cNvPr id="388" name="Google Shape;388;p36"/>
          <p:cNvSpPr/>
          <p:nvPr/>
        </p:nvSpPr>
        <p:spPr>
          <a:xfrm>
            <a:off x="7453193" y="5906572"/>
            <a:ext cx="2761178" cy="34504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Scalable Patterns</a:t>
            </a:r>
            <a:endParaRPr b="0" i="0" sz="2150" u="none" cap="none" strike="noStrike"/>
          </a:p>
        </p:txBody>
      </p:sp>
      <p:sp>
        <p:nvSpPr>
          <p:cNvPr id="389" name="Google Shape;389;p36"/>
          <p:cNvSpPr/>
          <p:nvPr/>
        </p:nvSpPr>
        <p:spPr>
          <a:xfrm>
            <a:off x="7453193" y="6384131"/>
            <a:ext cx="6404134" cy="1060133"/>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Applied distributed systems principles including horizontal scaling, load balancing, fault tolerance, and monitoring practices essential for production-grade data platforms.</a:t>
            </a:r>
            <a:endParaRPr b="0" i="0" sz="1700" u="none" cap="none" strike="noStrike"/>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descr="preencoded.png" id="395" name="Google Shape;395;p37"/>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96" name="Google Shape;396;p37"/>
          <p:cNvSpPr/>
          <p:nvPr/>
        </p:nvSpPr>
        <p:spPr>
          <a:xfrm>
            <a:off x="6099572" y="886420"/>
            <a:ext cx="4379714" cy="547449"/>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233E32"/>
              </a:buClr>
              <a:buSzPts val="3400"/>
              <a:buFont typeface="Alice"/>
              <a:buNone/>
            </a:pPr>
            <a:r>
              <a:rPr b="0" i="0" lang="en-US" sz="3400" u="none" cap="none" strike="noStrike">
                <a:solidFill>
                  <a:srgbClr val="233E32"/>
                </a:solidFill>
                <a:latin typeface="Alice"/>
                <a:ea typeface="Alice"/>
                <a:cs typeface="Alice"/>
                <a:sym typeface="Alice"/>
              </a:rPr>
              <a:t>Challenges Faced</a:t>
            </a:r>
            <a:endParaRPr b="0" i="0" sz="3400" u="none" cap="none" strike="noStrike"/>
          </a:p>
        </p:txBody>
      </p:sp>
      <p:sp>
        <p:nvSpPr>
          <p:cNvPr id="397" name="Google Shape;397;p37"/>
          <p:cNvSpPr/>
          <p:nvPr/>
        </p:nvSpPr>
        <p:spPr>
          <a:xfrm>
            <a:off x="6099572" y="1696641"/>
            <a:ext cx="3871198" cy="2735699"/>
          </a:xfrm>
          <a:prstGeom prst="roundRect">
            <a:avLst>
              <a:gd fmla="val 4011" name="adj"/>
            </a:avLst>
          </a:prstGeom>
          <a:solidFill>
            <a:srgbClr val="FCFBF8"/>
          </a:solidFill>
          <a:ln cap="flat" cmpd="sng" w="22850">
            <a:solidFill>
              <a:srgbClr val="1516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7"/>
          <p:cNvSpPr/>
          <p:nvPr/>
        </p:nvSpPr>
        <p:spPr>
          <a:xfrm>
            <a:off x="6076712" y="1696641"/>
            <a:ext cx="91440" cy="2735699"/>
          </a:xfrm>
          <a:prstGeom prst="roundRect">
            <a:avLst>
              <a:gd fmla="val 28739" name="adj"/>
            </a:avLst>
          </a:prstGeom>
          <a:solidFill>
            <a:srgbClr val="151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7"/>
          <p:cNvSpPr/>
          <p:nvPr/>
        </p:nvSpPr>
        <p:spPr>
          <a:xfrm>
            <a:off x="6366153" y="1894642"/>
            <a:ext cx="2725936" cy="273606"/>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2C2821"/>
              </a:buClr>
              <a:buSzPts val="1700"/>
              <a:buFont typeface="Alice"/>
              <a:buNone/>
            </a:pPr>
            <a:r>
              <a:rPr b="0" i="0" lang="en-US" sz="1700" u="none" cap="none" strike="noStrike">
                <a:solidFill>
                  <a:srgbClr val="2C2821"/>
                </a:solidFill>
                <a:latin typeface="Alice"/>
                <a:ea typeface="Alice"/>
                <a:cs typeface="Alice"/>
                <a:sym typeface="Alice"/>
              </a:rPr>
              <a:t>Streaming Joins Complexity</a:t>
            </a:r>
            <a:endParaRPr b="0" i="0" sz="1700" u="none" cap="none" strike="noStrike"/>
          </a:p>
        </p:txBody>
      </p:sp>
      <p:sp>
        <p:nvSpPr>
          <p:cNvPr id="400" name="Google Shape;400;p37"/>
          <p:cNvSpPr/>
          <p:nvPr/>
        </p:nvSpPr>
        <p:spPr>
          <a:xfrm>
            <a:off x="6366153" y="2273260"/>
            <a:ext cx="3406616" cy="1961078"/>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2C2821"/>
              </a:buClr>
              <a:buSzPts val="1350"/>
              <a:buFont typeface="Lora"/>
              <a:buNone/>
            </a:pPr>
            <a:r>
              <a:rPr b="0" i="0" lang="en-US" sz="1350" u="none" cap="none" strike="noStrike">
                <a:solidFill>
                  <a:srgbClr val="2C2821"/>
                </a:solidFill>
                <a:latin typeface="Lora"/>
                <a:ea typeface="Lora"/>
                <a:cs typeface="Lora"/>
                <a:sym typeface="Lora"/>
              </a:rPr>
              <a:t>Joining high-velocity streams with varying event-time skew required careful watermark tuning and state TTL configuration. We implemented custom join strategies with late-event handling to maintain data accuracy without excessive memory overhead.</a:t>
            </a:r>
            <a:endParaRPr b="0" i="0" sz="1350" u="none" cap="none" strike="noStrike"/>
          </a:p>
        </p:txBody>
      </p:sp>
      <p:sp>
        <p:nvSpPr>
          <p:cNvPr id="401" name="Google Shape;401;p37"/>
          <p:cNvSpPr/>
          <p:nvPr/>
        </p:nvSpPr>
        <p:spPr>
          <a:xfrm>
            <a:off x="10145911" y="1696641"/>
            <a:ext cx="3871317" cy="2735699"/>
          </a:xfrm>
          <a:prstGeom prst="roundRect">
            <a:avLst>
              <a:gd fmla="val 4011" name="adj"/>
            </a:avLst>
          </a:prstGeom>
          <a:solidFill>
            <a:srgbClr val="FCFBF8"/>
          </a:solidFill>
          <a:ln cap="flat" cmpd="sng" w="22850">
            <a:solidFill>
              <a:srgbClr val="1516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7"/>
          <p:cNvSpPr/>
          <p:nvPr/>
        </p:nvSpPr>
        <p:spPr>
          <a:xfrm>
            <a:off x="10123051" y="1696641"/>
            <a:ext cx="91440" cy="2735699"/>
          </a:xfrm>
          <a:prstGeom prst="roundRect">
            <a:avLst>
              <a:gd fmla="val 28739" name="adj"/>
            </a:avLst>
          </a:prstGeom>
          <a:solidFill>
            <a:srgbClr val="151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7"/>
          <p:cNvSpPr/>
          <p:nvPr/>
        </p:nvSpPr>
        <p:spPr>
          <a:xfrm>
            <a:off x="10412492" y="1894642"/>
            <a:ext cx="3092172" cy="273606"/>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2C2821"/>
              </a:buClr>
              <a:buSzPts val="1700"/>
              <a:buFont typeface="Alice"/>
              <a:buNone/>
            </a:pPr>
            <a:r>
              <a:rPr b="0" i="0" lang="en-US" sz="1700" u="none" cap="none" strike="noStrike">
                <a:solidFill>
                  <a:srgbClr val="2C2821"/>
                </a:solidFill>
                <a:latin typeface="Alice"/>
                <a:ea typeface="Alice"/>
                <a:cs typeface="Alice"/>
                <a:sym typeface="Alice"/>
              </a:rPr>
              <a:t>Schema Evolution Management</a:t>
            </a:r>
            <a:endParaRPr b="0" i="0" sz="1700" u="none" cap="none" strike="noStrike"/>
          </a:p>
        </p:txBody>
      </p:sp>
      <p:sp>
        <p:nvSpPr>
          <p:cNvPr id="404" name="Google Shape;404;p37"/>
          <p:cNvSpPr/>
          <p:nvPr/>
        </p:nvSpPr>
        <p:spPr>
          <a:xfrm>
            <a:off x="10412492" y="2273260"/>
            <a:ext cx="3406735" cy="1961078"/>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2C2821"/>
              </a:buClr>
              <a:buSzPts val="1350"/>
              <a:buFont typeface="Lora"/>
              <a:buNone/>
            </a:pPr>
            <a:r>
              <a:rPr b="0" i="0" lang="en-US" sz="1350" u="none" cap="none" strike="noStrike">
                <a:solidFill>
                  <a:srgbClr val="2C2821"/>
                </a:solidFill>
                <a:latin typeface="Lora"/>
                <a:ea typeface="Lora"/>
                <a:cs typeface="Lora"/>
                <a:sym typeface="Lora"/>
              </a:rPr>
              <a:t>Coordinating schema changes across producers, streaming pipelines, and consumers demanded robust versioning and compatibility testing. Registry integration and automated validation prevented breaking changes from reaching production.</a:t>
            </a:r>
            <a:endParaRPr b="0" i="0" sz="1350" u="none" cap="none" strike="noStrike"/>
          </a:p>
        </p:txBody>
      </p:sp>
      <p:sp>
        <p:nvSpPr>
          <p:cNvPr id="405" name="Google Shape;405;p37"/>
          <p:cNvSpPr/>
          <p:nvPr/>
        </p:nvSpPr>
        <p:spPr>
          <a:xfrm>
            <a:off x="6099572" y="4607481"/>
            <a:ext cx="3871198" cy="2735699"/>
          </a:xfrm>
          <a:prstGeom prst="roundRect">
            <a:avLst>
              <a:gd fmla="val 4011" name="adj"/>
            </a:avLst>
          </a:prstGeom>
          <a:solidFill>
            <a:srgbClr val="FCFBF8"/>
          </a:solidFill>
          <a:ln cap="flat" cmpd="sng" w="22850">
            <a:solidFill>
              <a:srgbClr val="1516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7"/>
          <p:cNvSpPr/>
          <p:nvPr/>
        </p:nvSpPr>
        <p:spPr>
          <a:xfrm>
            <a:off x="6076712" y="4607481"/>
            <a:ext cx="91440" cy="2735699"/>
          </a:xfrm>
          <a:prstGeom prst="roundRect">
            <a:avLst>
              <a:gd fmla="val 28739" name="adj"/>
            </a:avLst>
          </a:prstGeom>
          <a:solidFill>
            <a:srgbClr val="151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7"/>
          <p:cNvSpPr/>
          <p:nvPr/>
        </p:nvSpPr>
        <p:spPr>
          <a:xfrm>
            <a:off x="6366153" y="4805482"/>
            <a:ext cx="2569845" cy="273606"/>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2C2821"/>
              </a:buClr>
              <a:buSzPts val="1700"/>
              <a:buFont typeface="Alice"/>
              <a:buNone/>
            </a:pPr>
            <a:r>
              <a:rPr b="0" i="0" lang="en-US" sz="1700" u="none" cap="none" strike="noStrike">
                <a:solidFill>
                  <a:srgbClr val="2C2821"/>
                </a:solidFill>
                <a:latin typeface="Alice"/>
                <a:ea typeface="Alice"/>
                <a:cs typeface="Alice"/>
                <a:sym typeface="Alice"/>
              </a:rPr>
              <a:t>Data Partitioning Strategy</a:t>
            </a:r>
            <a:endParaRPr b="0" i="0" sz="1700" u="none" cap="none" strike="noStrike"/>
          </a:p>
        </p:txBody>
      </p:sp>
      <p:sp>
        <p:nvSpPr>
          <p:cNvPr id="408" name="Google Shape;408;p37"/>
          <p:cNvSpPr/>
          <p:nvPr/>
        </p:nvSpPr>
        <p:spPr>
          <a:xfrm>
            <a:off x="6366153" y="5184100"/>
            <a:ext cx="3406616" cy="1961078"/>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2C2821"/>
              </a:buClr>
              <a:buSzPts val="1350"/>
              <a:buFont typeface="Lora"/>
              <a:buNone/>
            </a:pPr>
            <a:r>
              <a:rPr b="0" i="0" lang="en-US" sz="1350" u="none" cap="none" strike="noStrike">
                <a:solidFill>
                  <a:srgbClr val="2C2821"/>
                </a:solidFill>
                <a:latin typeface="Lora"/>
                <a:ea typeface="Lora"/>
                <a:cs typeface="Lora"/>
                <a:sym typeface="Lora"/>
              </a:rPr>
              <a:t>Balancing partition granularity for optimal query performance versus manageable file counts required iterative testing. Dynamic partitioning based on data volume patterns emerged as the most effective solution for mixed workloads.</a:t>
            </a:r>
            <a:endParaRPr b="0" i="0" sz="1350" u="none" cap="none" strike="noStrike"/>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descr="preencoded.png" id="414" name="Google Shape;414;p38"/>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415" name="Google Shape;415;p38"/>
          <p:cNvSpPr/>
          <p:nvPr/>
        </p:nvSpPr>
        <p:spPr>
          <a:xfrm>
            <a:off x="793790" y="651153"/>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Future Enhancements</a:t>
            </a:r>
            <a:endParaRPr b="0" i="0" sz="4450" u="none" cap="none" strike="noStrike"/>
          </a:p>
        </p:txBody>
      </p:sp>
      <p:sp>
        <p:nvSpPr>
          <p:cNvPr id="416" name="Google Shape;416;p38"/>
          <p:cNvSpPr/>
          <p:nvPr/>
        </p:nvSpPr>
        <p:spPr>
          <a:xfrm>
            <a:off x="1048941" y="1700093"/>
            <a:ext cx="30480" cy="5878235"/>
          </a:xfrm>
          <a:prstGeom prst="roundRect">
            <a:avLst>
              <a:gd fmla="val 111628"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8"/>
          <p:cNvSpPr/>
          <p:nvPr/>
        </p:nvSpPr>
        <p:spPr>
          <a:xfrm>
            <a:off x="1273612" y="1940004"/>
            <a:ext cx="680442" cy="30480"/>
          </a:xfrm>
          <a:prstGeom prst="roundRect">
            <a:avLst>
              <a:gd fmla="val 111628"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8"/>
          <p:cNvSpPr/>
          <p:nvPr/>
        </p:nvSpPr>
        <p:spPr>
          <a:xfrm>
            <a:off x="793790" y="1700093"/>
            <a:ext cx="510302" cy="510302"/>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8"/>
          <p:cNvSpPr/>
          <p:nvPr/>
        </p:nvSpPr>
        <p:spPr>
          <a:xfrm>
            <a:off x="878860" y="1742599"/>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650"/>
              <a:buFont typeface="Alice"/>
              <a:buNone/>
            </a:pPr>
            <a:r>
              <a:rPr b="0" i="0" lang="en-US" sz="2650" u="none" cap="none" strike="noStrike">
                <a:solidFill>
                  <a:srgbClr val="2C2821"/>
                </a:solidFill>
                <a:latin typeface="Alice"/>
                <a:ea typeface="Alice"/>
                <a:cs typeface="Alice"/>
                <a:sym typeface="Alice"/>
              </a:rPr>
              <a:t>1</a:t>
            </a:r>
            <a:endParaRPr b="0" i="0" sz="2650" u="none" cap="none" strike="noStrike"/>
          </a:p>
        </p:txBody>
      </p:sp>
      <p:sp>
        <p:nvSpPr>
          <p:cNvPr id="420" name="Google Shape;420;p38"/>
          <p:cNvSpPr/>
          <p:nvPr/>
        </p:nvSpPr>
        <p:spPr>
          <a:xfrm>
            <a:off x="2183011" y="1777960"/>
            <a:ext cx="287452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Q1: Intelligent Alerting</a:t>
            </a:r>
            <a:endParaRPr b="0" i="0" sz="2200" u="none" cap="none" strike="noStrike"/>
          </a:p>
        </p:txBody>
      </p:sp>
      <p:sp>
        <p:nvSpPr>
          <p:cNvPr id="421" name="Google Shape;421;p38"/>
          <p:cNvSpPr/>
          <p:nvPr/>
        </p:nvSpPr>
        <p:spPr>
          <a:xfrm>
            <a:off x="2183011" y="2268379"/>
            <a:ext cx="616719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Deploy rule-based alerting system with configurable thresholds, notification channels, and escalation policies integrated directly into the streaming pipeline.</a:t>
            </a:r>
            <a:endParaRPr b="0" i="0" sz="1750" u="none" cap="none" strike="noStrike"/>
          </a:p>
        </p:txBody>
      </p:sp>
      <p:sp>
        <p:nvSpPr>
          <p:cNvPr id="422" name="Google Shape;422;p38"/>
          <p:cNvSpPr/>
          <p:nvPr/>
        </p:nvSpPr>
        <p:spPr>
          <a:xfrm>
            <a:off x="1273612" y="4050625"/>
            <a:ext cx="680442" cy="30480"/>
          </a:xfrm>
          <a:prstGeom prst="roundRect">
            <a:avLst>
              <a:gd fmla="val 111628"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8"/>
          <p:cNvSpPr/>
          <p:nvPr/>
        </p:nvSpPr>
        <p:spPr>
          <a:xfrm>
            <a:off x="793790" y="3810714"/>
            <a:ext cx="510302" cy="510302"/>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8"/>
          <p:cNvSpPr/>
          <p:nvPr/>
        </p:nvSpPr>
        <p:spPr>
          <a:xfrm>
            <a:off x="878860" y="3853220"/>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650"/>
              <a:buFont typeface="Alice"/>
              <a:buNone/>
            </a:pPr>
            <a:r>
              <a:rPr b="0" i="0" lang="en-US" sz="2650" u="none" cap="none" strike="noStrike">
                <a:solidFill>
                  <a:srgbClr val="2C2821"/>
                </a:solidFill>
                <a:latin typeface="Alice"/>
                <a:ea typeface="Alice"/>
                <a:cs typeface="Alice"/>
                <a:sym typeface="Alice"/>
              </a:rPr>
              <a:t>2</a:t>
            </a:r>
            <a:endParaRPr b="0" i="0" sz="2650" u="none" cap="none" strike="noStrike"/>
          </a:p>
        </p:txBody>
      </p:sp>
      <p:sp>
        <p:nvSpPr>
          <p:cNvPr id="425" name="Google Shape;425;p38"/>
          <p:cNvSpPr/>
          <p:nvPr/>
        </p:nvSpPr>
        <p:spPr>
          <a:xfrm>
            <a:off x="2183011" y="3888581"/>
            <a:ext cx="340244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Q2: ML Anomaly Detection</a:t>
            </a:r>
            <a:endParaRPr b="0" i="0" sz="2200" u="none" cap="none" strike="noStrike"/>
          </a:p>
        </p:txBody>
      </p:sp>
      <p:sp>
        <p:nvSpPr>
          <p:cNvPr id="426" name="Google Shape;426;p38"/>
          <p:cNvSpPr/>
          <p:nvPr/>
        </p:nvSpPr>
        <p:spPr>
          <a:xfrm>
            <a:off x="2183011" y="4379000"/>
            <a:ext cx="616719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Integrate machine learning models for real-time anomaly detection, leveraging historical patterns to identify unusual behavior and predict potential system failures.</a:t>
            </a:r>
            <a:endParaRPr b="0" i="0" sz="1750" u="none" cap="none" strike="noStrike"/>
          </a:p>
        </p:txBody>
      </p:sp>
      <p:sp>
        <p:nvSpPr>
          <p:cNvPr id="427" name="Google Shape;427;p38"/>
          <p:cNvSpPr/>
          <p:nvPr/>
        </p:nvSpPr>
        <p:spPr>
          <a:xfrm>
            <a:off x="1273612" y="6161246"/>
            <a:ext cx="680442" cy="30480"/>
          </a:xfrm>
          <a:prstGeom prst="roundRect">
            <a:avLst>
              <a:gd fmla="val 111628"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8"/>
          <p:cNvSpPr/>
          <p:nvPr/>
        </p:nvSpPr>
        <p:spPr>
          <a:xfrm>
            <a:off x="793790" y="5921335"/>
            <a:ext cx="510302" cy="510302"/>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8"/>
          <p:cNvSpPr/>
          <p:nvPr/>
        </p:nvSpPr>
        <p:spPr>
          <a:xfrm>
            <a:off x="878860" y="5963841"/>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650"/>
              <a:buFont typeface="Alice"/>
              <a:buNone/>
            </a:pPr>
            <a:r>
              <a:rPr b="0" i="0" lang="en-US" sz="2650" u="none" cap="none" strike="noStrike">
                <a:solidFill>
                  <a:srgbClr val="2C2821"/>
                </a:solidFill>
                <a:latin typeface="Alice"/>
                <a:ea typeface="Alice"/>
                <a:cs typeface="Alice"/>
                <a:sym typeface="Alice"/>
              </a:rPr>
              <a:t>3</a:t>
            </a:r>
            <a:endParaRPr b="0" i="0" sz="2650" u="none" cap="none" strike="noStrike"/>
          </a:p>
        </p:txBody>
      </p:sp>
      <p:sp>
        <p:nvSpPr>
          <p:cNvPr id="430" name="Google Shape;430;p38"/>
          <p:cNvSpPr/>
          <p:nvPr/>
        </p:nvSpPr>
        <p:spPr>
          <a:xfrm>
            <a:off x="2183011" y="5999202"/>
            <a:ext cx="348888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Q3: Data Lake Optimization</a:t>
            </a:r>
            <a:endParaRPr b="0" i="0" sz="2200" u="none" cap="none" strike="noStrike"/>
          </a:p>
        </p:txBody>
      </p:sp>
      <p:sp>
        <p:nvSpPr>
          <p:cNvPr id="431" name="Google Shape;431;p38"/>
          <p:cNvSpPr/>
          <p:nvPr/>
        </p:nvSpPr>
        <p:spPr>
          <a:xfrm>
            <a:off x="2183011" y="6489621"/>
            <a:ext cx="616719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Implement Delta Lake for ACID transactions, time travel capabilities, and improved query performance through advanced indexing and caching strategies.</a:t>
            </a:r>
            <a:endParaRPr b="0" i="0" sz="1750" u="none" cap="none" strike="noStrike"/>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descr="preencoded.png" id="437" name="Google Shape;437;p39"/>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438" name="Google Shape;438;p39"/>
          <p:cNvSpPr/>
          <p:nvPr/>
        </p:nvSpPr>
        <p:spPr>
          <a:xfrm>
            <a:off x="793790" y="2382441"/>
            <a:ext cx="7556421" cy="1417677"/>
          </a:xfrm>
          <a:prstGeom prst="rect">
            <a:avLst/>
          </a:prstGeom>
          <a:noFill/>
          <a:ln>
            <a:noFill/>
          </a:ln>
        </p:spPr>
        <p:txBody>
          <a:bodyPr anchorCtr="0" anchor="t" bIns="0" lIns="0" spcFirstLastPara="1" rIns="0" wrap="square" tIns="0">
            <a:noAutofit/>
          </a:bodyPr>
          <a:lstStyle/>
          <a:p>
            <a:pPr indent="0" lvl="0" marL="0" marR="0" rtl="0" algn="ctr">
              <a:lnSpc>
                <a:spcPct val="125280"/>
              </a:lnSpc>
              <a:spcBef>
                <a:spcPts val="0"/>
              </a:spcBef>
              <a:spcAft>
                <a:spcPts val="0"/>
              </a:spcAft>
              <a:buClr>
                <a:srgbClr val="233E32"/>
              </a:buClr>
              <a:buSzPts val="8900"/>
              <a:buFont typeface="Alice"/>
              <a:buNone/>
            </a:pPr>
            <a:r>
              <a:rPr b="0" i="0" lang="en-US" sz="8900" u="none" cap="none" strike="noStrike">
                <a:solidFill>
                  <a:srgbClr val="233E32"/>
                </a:solidFill>
                <a:latin typeface="Alice"/>
                <a:ea typeface="Alice"/>
                <a:cs typeface="Alice"/>
                <a:sym typeface="Alice"/>
              </a:rPr>
              <a:t>Thank You</a:t>
            </a:r>
            <a:endParaRPr b="0" i="0" sz="8900" u="none" cap="none" strike="noStrike"/>
          </a:p>
        </p:txBody>
      </p:sp>
      <p:sp>
        <p:nvSpPr>
          <p:cNvPr id="439" name="Google Shape;439;p39"/>
          <p:cNvSpPr/>
          <p:nvPr/>
        </p:nvSpPr>
        <p:spPr>
          <a:xfrm>
            <a:off x="793790" y="4140279"/>
            <a:ext cx="7556421"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2C2821"/>
              </a:buClr>
              <a:buSzPts val="1750"/>
              <a:buFont typeface="Lora"/>
              <a:buNone/>
            </a:pPr>
            <a:r>
              <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